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1" r:id="rId3"/>
    <p:sldId id="262" r:id="rId4"/>
    <p:sldId id="263" r:id="rId5"/>
    <p:sldId id="257" r:id="rId6"/>
    <p:sldId id="259" r:id="rId7"/>
    <p:sldId id="264" r:id="rId8"/>
    <p:sldId id="260" r:id="rId9"/>
    <p:sldId id="265" r:id="rId10"/>
    <p:sldId id="266" r:id="rId11"/>
    <p:sldId id="267" r:id="rId12"/>
    <p:sldId id="268" r:id="rId13"/>
    <p:sldId id="25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801"/>
    <p:restoredTop sz="81054"/>
  </p:normalViewPr>
  <p:slideViewPr>
    <p:cSldViewPr snapToGrid="0">
      <p:cViewPr>
        <p:scale>
          <a:sx n="80" d="100"/>
          <a:sy n="80" d="100"/>
        </p:scale>
        <p:origin x="1488" y="5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9620E9-E378-584B-AD9B-1ED6A19B189A}" type="datetimeFigureOut">
              <a:t>9/30/26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9D4285-402C-3C4B-A238-810EF9283525}" type="slidenum">
              <a:t>‹#›</a:t>
            </a:fld>
            <a:endParaRPr lang="en-US"/>
          </a:p>
        </p:txBody>
      </p:sp>
    </p:spTree>
    <p:extLst>
      <p:ext uri="{BB962C8B-B14F-4D97-AF65-F5344CB8AC3E}">
        <p14:creationId xmlns:p14="http://schemas.microsoft.com/office/powerpoint/2010/main" val="3570655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Who are you Junna? , reflecting my unique path approaching science from an engineering training; I should come to this and revise this frequently. </a:t>
            </a:r>
          </a:p>
        </p:txBody>
      </p:sp>
      <p:sp>
        <p:nvSpPr>
          <p:cNvPr id="4" name="Slide Number Placeholder 3"/>
          <p:cNvSpPr>
            <a:spLocks noGrp="1"/>
          </p:cNvSpPr>
          <p:nvPr>
            <p:ph type="sldNum" sz="quarter" idx="5"/>
          </p:nvPr>
        </p:nvSpPr>
        <p:spPr/>
        <p:txBody>
          <a:bodyPr/>
          <a:lstStyle/>
          <a:p>
            <a:fld id="{899D4285-402C-3C4B-A238-810EF9283525}" type="slidenum">
              <a:t>1</a:t>
            </a:fld>
            <a:endParaRPr lang="en-US"/>
          </a:p>
        </p:txBody>
      </p:sp>
    </p:spTree>
    <p:extLst>
      <p:ext uri="{BB962C8B-B14F-4D97-AF65-F5344CB8AC3E}">
        <p14:creationId xmlns:p14="http://schemas.microsoft.com/office/powerpoint/2010/main" val="1630048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a:solidFill>
                  <a:schemeClr val="tx1"/>
                </a:solidFill>
                <a:effectLst/>
                <a:latin typeface="+mn-lt"/>
                <a:ea typeface="+mn-ea"/>
                <a:cs typeface="+mn-cs"/>
              </a:rPr>
              <a:t>How ecosystems and the biosphere reorganize in a changing world?</a:t>
            </a:r>
          </a:p>
        </p:txBody>
      </p:sp>
      <p:sp>
        <p:nvSpPr>
          <p:cNvPr id="4" name="Slide Number Placeholder 3"/>
          <p:cNvSpPr>
            <a:spLocks noGrp="1"/>
          </p:cNvSpPr>
          <p:nvPr>
            <p:ph type="sldNum" sz="quarter" idx="5"/>
          </p:nvPr>
        </p:nvSpPr>
        <p:spPr/>
        <p:txBody>
          <a:bodyPr/>
          <a:lstStyle/>
          <a:p>
            <a:fld id="{899D4285-402C-3C4B-A238-810EF9283525}" type="slidenum">
              <a:rPr lang="en-US"/>
              <a:t>3</a:t>
            </a:fld>
            <a:endParaRPr lang="en-US"/>
          </a:p>
        </p:txBody>
      </p:sp>
    </p:spTree>
    <p:extLst>
      <p:ext uri="{BB962C8B-B14F-4D97-AF65-F5344CB8AC3E}">
        <p14:creationId xmlns:p14="http://schemas.microsoft.com/office/powerpoint/2010/main" val="3812504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Terrestrial detritus supports aquatic food webs through consumers that forage on detritus. Our study evaluates the importance of a second terrestrial carbon pathway in which algae assimilate a substantial amount of dissolved inorganic carbon (DIC) released from the mineralization and methanogenesis of t-OM. Despite this, most CO</a:t>
            </a:r>
            <a:r>
              <a:rPr lang="en-US" sz="1200" kern="1200" baseline="-25000">
                <a:solidFill>
                  <a:schemeClr val="tx1"/>
                </a:solidFill>
                <a:effectLst/>
                <a:latin typeface="+mn-lt"/>
                <a:ea typeface="+mn-ea"/>
                <a:cs typeface="+mn-cs"/>
              </a:rPr>
              <a:t>2</a:t>
            </a:r>
            <a:r>
              <a:rPr lang="en-US" sz="1200" kern="1200">
                <a:solidFill>
                  <a:schemeClr val="tx1"/>
                </a:solidFill>
                <a:effectLst/>
                <a:latin typeface="+mn-lt"/>
                <a:ea typeface="+mn-ea"/>
                <a:cs typeface="+mn-cs"/>
              </a:rPr>
              <a:t> and CH</a:t>
            </a:r>
            <a:r>
              <a:rPr lang="en-US" sz="1200" kern="1200" baseline="-25000">
                <a:solidFill>
                  <a:schemeClr val="tx1"/>
                </a:solidFill>
                <a:effectLst/>
                <a:latin typeface="+mn-lt"/>
                <a:ea typeface="+mn-ea"/>
                <a:cs typeface="+mn-cs"/>
              </a:rPr>
              <a:t>4</a:t>
            </a:r>
            <a:r>
              <a:rPr lang="en-US" sz="1200" kern="1200">
                <a:solidFill>
                  <a:schemeClr val="tx1"/>
                </a:solidFill>
                <a:effectLst/>
                <a:latin typeface="+mn-lt"/>
                <a:ea typeface="+mn-ea"/>
                <a:cs typeface="+mn-cs"/>
              </a:rPr>
              <a:t> from t-OM decomposition are emitted to the atmosphere, suggesting the dual roles of t-OM in simultaneously supporting aquatic food webs and contributing to carbon emissions.</a:t>
            </a:r>
            <a:r>
              <a:rPr lang="en-US">
                <a:effectLst/>
              </a:rPr>
              <a:t> </a:t>
            </a:r>
          </a:p>
          <a:p>
            <a:endParaRPr lang="en-US">
              <a:effectLst/>
            </a:endParaRPr>
          </a:p>
          <a:p>
            <a:endParaRPr lang="en-US"/>
          </a:p>
        </p:txBody>
      </p:sp>
      <p:sp>
        <p:nvSpPr>
          <p:cNvPr id="4" name="Slide Number Placeholder 3"/>
          <p:cNvSpPr>
            <a:spLocks noGrp="1"/>
          </p:cNvSpPr>
          <p:nvPr>
            <p:ph type="sldNum" sz="quarter" idx="5"/>
          </p:nvPr>
        </p:nvSpPr>
        <p:spPr/>
        <p:txBody>
          <a:bodyPr/>
          <a:lstStyle/>
          <a:p>
            <a:fld id="{899D4285-402C-3C4B-A238-810EF9283525}" type="slidenum">
              <a:rPr lang="en-US"/>
              <a:t>6</a:t>
            </a:fld>
            <a:endParaRPr lang="en-US"/>
          </a:p>
        </p:txBody>
      </p:sp>
    </p:spTree>
    <p:extLst>
      <p:ext uri="{BB962C8B-B14F-4D97-AF65-F5344CB8AC3E}">
        <p14:creationId xmlns:p14="http://schemas.microsoft.com/office/powerpoint/2010/main" val="560703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Concept inspired by </a:t>
            </a:r>
          </a:p>
        </p:txBody>
      </p:sp>
      <p:sp>
        <p:nvSpPr>
          <p:cNvPr id="4" name="Slide Number Placeholder 3"/>
          <p:cNvSpPr>
            <a:spLocks noGrp="1"/>
          </p:cNvSpPr>
          <p:nvPr>
            <p:ph type="sldNum" sz="quarter" idx="5"/>
          </p:nvPr>
        </p:nvSpPr>
        <p:spPr/>
        <p:txBody>
          <a:bodyPr/>
          <a:lstStyle/>
          <a:p>
            <a:fld id="{899D4285-402C-3C4B-A238-810EF9283525}" type="slidenum">
              <a:rPr lang="en-US"/>
              <a:t>9</a:t>
            </a:fld>
            <a:endParaRPr lang="en-US"/>
          </a:p>
        </p:txBody>
      </p:sp>
    </p:spTree>
    <p:extLst>
      <p:ext uri="{BB962C8B-B14F-4D97-AF65-F5344CB8AC3E}">
        <p14:creationId xmlns:p14="http://schemas.microsoft.com/office/powerpoint/2010/main" val="20890101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Junna Wang, and Zhonglong Zhang. Journal of Hydraulic Engineering (ASCE), 2019.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Junna Wang, Zhonglong Zhang, Blair Greimann, Victor Huang. Ecological Modelling. 2018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899D4285-402C-3C4B-A238-810EF9283525}" type="slidenum">
              <a:rPr lang="en-US"/>
              <a:t>10</a:t>
            </a:fld>
            <a:endParaRPr lang="en-US"/>
          </a:p>
        </p:txBody>
      </p:sp>
    </p:spTree>
    <p:extLst>
      <p:ext uri="{BB962C8B-B14F-4D97-AF65-F5344CB8AC3E}">
        <p14:creationId xmlns:p14="http://schemas.microsoft.com/office/powerpoint/2010/main" val="2685141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 Wang, Z Dong, W Liao, C Li, S Feng, Q Peng, H Luo. Science China Technological Sciences. 2013. </a:t>
            </a:r>
          </a:p>
          <a:p>
            <a:r>
              <a:rPr lang="en-US"/>
              <a:t>J Wang, C Li, X Duan, D Chen, S Feng, Q Peng, W Liao. Freshwater Biology. 2014. </a:t>
            </a:r>
          </a:p>
          <a:p>
            <a:r>
              <a:rPr lang="en-US"/>
              <a:t>J Wang, C Li, X Duan, H Luo, S Feng, Q Peng,WLiao. River Research and Applications. 2013</a:t>
            </a:r>
          </a:p>
          <a:p>
            <a:endParaRPr lang="en-US"/>
          </a:p>
        </p:txBody>
      </p:sp>
      <p:sp>
        <p:nvSpPr>
          <p:cNvPr id="4" name="Slide Number Placeholder 3"/>
          <p:cNvSpPr>
            <a:spLocks noGrp="1"/>
          </p:cNvSpPr>
          <p:nvPr>
            <p:ph type="sldNum" sz="quarter" idx="5"/>
          </p:nvPr>
        </p:nvSpPr>
        <p:spPr/>
        <p:txBody>
          <a:bodyPr/>
          <a:lstStyle/>
          <a:p>
            <a:fld id="{899D4285-402C-3C4B-A238-810EF9283525}" type="slidenum">
              <a:rPr lang="en-US"/>
              <a:t>11</a:t>
            </a:fld>
            <a:endParaRPr lang="en-US"/>
          </a:p>
        </p:txBody>
      </p:sp>
    </p:spTree>
    <p:extLst>
      <p:ext uri="{BB962C8B-B14F-4D97-AF65-F5344CB8AC3E}">
        <p14:creationId xmlns:p14="http://schemas.microsoft.com/office/powerpoint/2010/main" val="3494749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J Wang, F A Bombardelli, X Dong. Water Resources Research. 2021.</a:t>
            </a:r>
          </a:p>
          <a:p>
            <a:r>
              <a:rPr lang="en-US" sz="1200" kern="1200">
                <a:solidFill>
                  <a:schemeClr val="tx1"/>
                </a:solidFill>
                <a:effectLst/>
                <a:latin typeface="+mn-lt"/>
                <a:ea typeface="+mn-ea"/>
                <a:cs typeface="+mn-cs"/>
              </a:rPr>
              <a:t>J Wang, Z Zhang, B Johnson. Water Research. 2019. </a:t>
            </a:r>
          </a:p>
          <a:p>
            <a:r>
              <a:rPr lang="en-US" sz="1200" kern="1200">
                <a:solidFill>
                  <a:schemeClr val="tx1"/>
                </a:solidFill>
                <a:effectLst/>
                <a:latin typeface="+mn-lt"/>
                <a:ea typeface="+mn-ea"/>
                <a:cs typeface="+mn-cs"/>
              </a:rPr>
              <a:t>J Wang, Z Zhang. Journal of Environmental Management. 2020. </a:t>
            </a:r>
            <a:endParaRPr lang="en-US"/>
          </a:p>
        </p:txBody>
      </p:sp>
      <p:sp>
        <p:nvSpPr>
          <p:cNvPr id="4" name="Slide Number Placeholder 3"/>
          <p:cNvSpPr>
            <a:spLocks noGrp="1"/>
          </p:cNvSpPr>
          <p:nvPr>
            <p:ph type="sldNum" sz="quarter" idx="5"/>
          </p:nvPr>
        </p:nvSpPr>
        <p:spPr/>
        <p:txBody>
          <a:bodyPr/>
          <a:lstStyle/>
          <a:p>
            <a:fld id="{899D4285-402C-3C4B-A238-810EF9283525}" type="slidenum">
              <a:rPr lang="en-US"/>
              <a:t>12</a:t>
            </a:fld>
            <a:endParaRPr lang="en-US"/>
          </a:p>
        </p:txBody>
      </p:sp>
    </p:spTree>
    <p:extLst>
      <p:ext uri="{BB962C8B-B14F-4D97-AF65-F5344CB8AC3E}">
        <p14:creationId xmlns:p14="http://schemas.microsoft.com/office/powerpoint/2010/main" val="3600896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8291F-64ED-EF31-802F-80A4D09AB4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4914E0-FFF4-DE2A-ED3C-A3D443DBA9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0575B0-D26A-C006-A636-939F2F02AF25}"/>
              </a:ext>
            </a:extLst>
          </p:cNvPr>
          <p:cNvSpPr>
            <a:spLocks noGrp="1"/>
          </p:cNvSpPr>
          <p:nvPr>
            <p:ph type="dt" sz="half" idx="10"/>
          </p:nvPr>
        </p:nvSpPr>
        <p:spPr/>
        <p:txBody>
          <a:bodyPr/>
          <a:lstStyle/>
          <a:p>
            <a:fld id="{C53397ED-7ACB-3945-9BF3-7F5E01EFB460}" type="datetimeFigureOut">
              <a:rPr lang="en-US" smtClean="0"/>
              <a:t>9/30/26</a:t>
            </a:fld>
            <a:endParaRPr lang="en-US"/>
          </a:p>
        </p:txBody>
      </p:sp>
      <p:sp>
        <p:nvSpPr>
          <p:cNvPr id="5" name="Footer Placeholder 4">
            <a:extLst>
              <a:ext uri="{FF2B5EF4-FFF2-40B4-BE49-F238E27FC236}">
                <a16:creationId xmlns:a16="http://schemas.microsoft.com/office/drawing/2014/main" id="{5F5E5B19-EA1D-D8E6-48BD-4455352F84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97A3B-6C5B-8CC7-9751-84C616437850}"/>
              </a:ext>
            </a:extLst>
          </p:cNvPr>
          <p:cNvSpPr>
            <a:spLocks noGrp="1"/>
          </p:cNvSpPr>
          <p:nvPr>
            <p:ph type="sldNum" sz="quarter" idx="12"/>
          </p:nvPr>
        </p:nvSpPr>
        <p:spPr/>
        <p:txBody>
          <a:bodyPr/>
          <a:lstStyle/>
          <a:p>
            <a:fld id="{20CE10AD-047D-924B-BCB7-3C0A24A0E1F6}" type="slidenum">
              <a:rPr lang="en-US" smtClean="0"/>
              <a:t>‹#›</a:t>
            </a:fld>
            <a:endParaRPr lang="en-US"/>
          </a:p>
        </p:txBody>
      </p:sp>
    </p:spTree>
    <p:extLst>
      <p:ext uri="{BB962C8B-B14F-4D97-AF65-F5344CB8AC3E}">
        <p14:creationId xmlns:p14="http://schemas.microsoft.com/office/powerpoint/2010/main" val="2695854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3D71-9C51-700B-A2EE-90FA30D206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81BBAA-D3AA-0E96-EAB0-33C995B492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FB639D-1AF8-9E37-3494-36B3E01C1F47}"/>
              </a:ext>
            </a:extLst>
          </p:cNvPr>
          <p:cNvSpPr>
            <a:spLocks noGrp="1"/>
          </p:cNvSpPr>
          <p:nvPr>
            <p:ph type="dt" sz="half" idx="10"/>
          </p:nvPr>
        </p:nvSpPr>
        <p:spPr/>
        <p:txBody>
          <a:bodyPr/>
          <a:lstStyle/>
          <a:p>
            <a:fld id="{C53397ED-7ACB-3945-9BF3-7F5E01EFB460}" type="datetimeFigureOut">
              <a:rPr lang="en-US" smtClean="0"/>
              <a:t>9/30/26</a:t>
            </a:fld>
            <a:endParaRPr lang="en-US"/>
          </a:p>
        </p:txBody>
      </p:sp>
      <p:sp>
        <p:nvSpPr>
          <p:cNvPr id="5" name="Footer Placeholder 4">
            <a:extLst>
              <a:ext uri="{FF2B5EF4-FFF2-40B4-BE49-F238E27FC236}">
                <a16:creationId xmlns:a16="http://schemas.microsoft.com/office/drawing/2014/main" id="{4E5BCBC0-8E66-8324-61EC-C568091673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4C66B4-CFBA-0BAF-D654-E70D3D4DAB73}"/>
              </a:ext>
            </a:extLst>
          </p:cNvPr>
          <p:cNvSpPr>
            <a:spLocks noGrp="1"/>
          </p:cNvSpPr>
          <p:nvPr>
            <p:ph type="sldNum" sz="quarter" idx="12"/>
          </p:nvPr>
        </p:nvSpPr>
        <p:spPr/>
        <p:txBody>
          <a:bodyPr/>
          <a:lstStyle/>
          <a:p>
            <a:fld id="{20CE10AD-047D-924B-BCB7-3C0A24A0E1F6}" type="slidenum">
              <a:rPr lang="en-US" smtClean="0"/>
              <a:t>‹#›</a:t>
            </a:fld>
            <a:endParaRPr lang="en-US"/>
          </a:p>
        </p:txBody>
      </p:sp>
    </p:spTree>
    <p:extLst>
      <p:ext uri="{BB962C8B-B14F-4D97-AF65-F5344CB8AC3E}">
        <p14:creationId xmlns:p14="http://schemas.microsoft.com/office/powerpoint/2010/main" val="85134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B7404-6C46-FDC7-3B89-CEBD2AA358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93A0F2-8892-C821-824D-C706E0F816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4A94CD-E677-5096-7A24-C035F90184EA}"/>
              </a:ext>
            </a:extLst>
          </p:cNvPr>
          <p:cNvSpPr>
            <a:spLocks noGrp="1"/>
          </p:cNvSpPr>
          <p:nvPr>
            <p:ph type="dt" sz="half" idx="10"/>
          </p:nvPr>
        </p:nvSpPr>
        <p:spPr/>
        <p:txBody>
          <a:bodyPr/>
          <a:lstStyle/>
          <a:p>
            <a:fld id="{C53397ED-7ACB-3945-9BF3-7F5E01EFB460}" type="datetimeFigureOut">
              <a:rPr lang="en-US" smtClean="0"/>
              <a:t>9/30/26</a:t>
            </a:fld>
            <a:endParaRPr lang="en-US"/>
          </a:p>
        </p:txBody>
      </p:sp>
      <p:sp>
        <p:nvSpPr>
          <p:cNvPr id="5" name="Footer Placeholder 4">
            <a:extLst>
              <a:ext uri="{FF2B5EF4-FFF2-40B4-BE49-F238E27FC236}">
                <a16:creationId xmlns:a16="http://schemas.microsoft.com/office/drawing/2014/main" id="{C3C92752-7D45-5448-98D2-35FDAD5F49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5D483D-2391-43A8-D840-69F9874477DE}"/>
              </a:ext>
            </a:extLst>
          </p:cNvPr>
          <p:cNvSpPr>
            <a:spLocks noGrp="1"/>
          </p:cNvSpPr>
          <p:nvPr>
            <p:ph type="sldNum" sz="quarter" idx="12"/>
          </p:nvPr>
        </p:nvSpPr>
        <p:spPr/>
        <p:txBody>
          <a:bodyPr/>
          <a:lstStyle/>
          <a:p>
            <a:fld id="{20CE10AD-047D-924B-BCB7-3C0A24A0E1F6}" type="slidenum">
              <a:rPr lang="en-US" smtClean="0"/>
              <a:t>‹#›</a:t>
            </a:fld>
            <a:endParaRPr lang="en-US"/>
          </a:p>
        </p:txBody>
      </p:sp>
    </p:spTree>
    <p:extLst>
      <p:ext uri="{BB962C8B-B14F-4D97-AF65-F5344CB8AC3E}">
        <p14:creationId xmlns:p14="http://schemas.microsoft.com/office/powerpoint/2010/main" val="3557080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6CA99-3A4C-F090-113F-3FE68FB38D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2329C2-EB89-8F68-B34A-8DF221CA23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334042-09E7-706A-BEF9-05D23CEDBC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F3E2E4-3F21-EE72-AA4E-0F3777CC865F}"/>
              </a:ext>
            </a:extLst>
          </p:cNvPr>
          <p:cNvSpPr>
            <a:spLocks noGrp="1"/>
          </p:cNvSpPr>
          <p:nvPr>
            <p:ph type="dt" sz="half" idx="10"/>
          </p:nvPr>
        </p:nvSpPr>
        <p:spPr/>
        <p:txBody>
          <a:bodyPr/>
          <a:lstStyle/>
          <a:p>
            <a:fld id="{C53397ED-7ACB-3945-9BF3-7F5E01EFB460}" type="datetimeFigureOut">
              <a:rPr lang="en-US" smtClean="0"/>
              <a:t>9/30/26</a:t>
            </a:fld>
            <a:endParaRPr lang="en-US"/>
          </a:p>
        </p:txBody>
      </p:sp>
      <p:sp>
        <p:nvSpPr>
          <p:cNvPr id="6" name="Footer Placeholder 5">
            <a:extLst>
              <a:ext uri="{FF2B5EF4-FFF2-40B4-BE49-F238E27FC236}">
                <a16:creationId xmlns:a16="http://schemas.microsoft.com/office/drawing/2014/main" id="{ADC24EC3-D884-0966-9EB3-F3B172169D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4C4EA4-E2AB-F003-FE1B-1B548EF8C723}"/>
              </a:ext>
            </a:extLst>
          </p:cNvPr>
          <p:cNvSpPr>
            <a:spLocks noGrp="1"/>
          </p:cNvSpPr>
          <p:nvPr>
            <p:ph type="sldNum" sz="quarter" idx="12"/>
          </p:nvPr>
        </p:nvSpPr>
        <p:spPr/>
        <p:txBody>
          <a:bodyPr/>
          <a:lstStyle/>
          <a:p>
            <a:fld id="{20CE10AD-047D-924B-BCB7-3C0A24A0E1F6}" type="slidenum">
              <a:rPr lang="en-US" smtClean="0"/>
              <a:t>‹#›</a:t>
            </a:fld>
            <a:endParaRPr lang="en-US"/>
          </a:p>
        </p:txBody>
      </p:sp>
    </p:spTree>
    <p:extLst>
      <p:ext uri="{BB962C8B-B14F-4D97-AF65-F5344CB8AC3E}">
        <p14:creationId xmlns:p14="http://schemas.microsoft.com/office/powerpoint/2010/main" val="3130264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8B60E-C1A5-AFF6-18E0-F6E828BCBF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9AED54-E25E-EFB3-E8D1-394C0B4F63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5BF59F-5C9E-864A-C830-A69975A702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4829F7-236B-8EE4-D4F2-91211C08BE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83794F-0455-FE2F-371E-4FCF064AB1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BC842B2-2023-C5BE-0CE8-44D0A3D5DBBB}"/>
              </a:ext>
            </a:extLst>
          </p:cNvPr>
          <p:cNvSpPr>
            <a:spLocks noGrp="1"/>
          </p:cNvSpPr>
          <p:nvPr>
            <p:ph type="dt" sz="half" idx="10"/>
          </p:nvPr>
        </p:nvSpPr>
        <p:spPr/>
        <p:txBody>
          <a:bodyPr/>
          <a:lstStyle/>
          <a:p>
            <a:fld id="{C53397ED-7ACB-3945-9BF3-7F5E01EFB460}" type="datetimeFigureOut">
              <a:rPr lang="en-US" smtClean="0"/>
              <a:t>9/30/26</a:t>
            </a:fld>
            <a:endParaRPr lang="en-US"/>
          </a:p>
        </p:txBody>
      </p:sp>
      <p:sp>
        <p:nvSpPr>
          <p:cNvPr id="8" name="Footer Placeholder 7">
            <a:extLst>
              <a:ext uri="{FF2B5EF4-FFF2-40B4-BE49-F238E27FC236}">
                <a16:creationId xmlns:a16="http://schemas.microsoft.com/office/drawing/2014/main" id="{2BF7B34C-EF1C-4D01-D608-9CB57F9A6C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E8335F-4DF9-5F52-7DEE-76BD4AE86342}"/>
              </a:ext>
            </a:extLst>
          </p:cNvPr>
          <p:cNvSpPr>
            <a:spLocks noGrp="1"/>
          </p:cNvSpPr>
          <p:nvPr>
            <p:ph type="sldNum" sz="quarter" idx="12"/>
          </p:nvPr>
        </p:nvSpPr>
        <p:spPr/>
        <p:txBody>
          <a:bodyPr/>
          <a:lstStyle/>
          <a:p>
            <a:fld id="{20CE10AD-047D-924B-BCB7-3C0A24A0E1F6}" type="slidenum">
              <a:rPr lang="en-US" smtClean="0"/>
              <a:t>‹#›</a:t>
            </a:fld>
            <a:endParaRPr lang="en-US"/>
          </a:p>
        </p:txBody>
      </p:sp>
    </p:spTree>
    <p:extLst>
      <p:ext uri="{BB962C8B-B14F-4D97-AF65-F5344CB8AC3E}">
        <p14:creationId xmlns:p14="http://schemas.microsoft.com/office/powerpoint/2010/main" val="4176623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C6C07-ABCF-EB68-7A2F-7F3C570C0A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23155A-6258-B05F-4E03-9A6725B8009A}"/>
              </a:ext>
            </a:extLst>
          </p:cNvPr>
          <p:cNvSpPr>
            <a:spLocks noGrp="1"/>
          </p:cNvSpPr>
          <p:nvPr>
            <p:ph type="dt" sz="half" idx="10"/>
          </p:nvPr>
        </p:nvSpPr>
        <p:spPr/>
        <p:txBody>
          <a:bodyPr/>
          <a:lstStyle/>
          <a:p>
            <a:fld id="{C53397ED-7ACB-3945-9BF3-7F5E01EFB460}" type="datetimeFigureOut">
              <a:rPr lang="en-US" smtClean="0"/>
              <a:t>9/30/26</a:t>
            </a:fld>
            <a:endParaRPr lang="en-US"/>
          </a:p>
        </p:txBody>
      </p:sp>
      <p:sp>
        <p:nvSpPr>
          <p:cNvPr id="4" name="Footer Placeholder 3">
            <a:extLst>
              <a:ext uri="{FF2B5EF4-FFF2-40B4-BE49-F238E27FC236}">
                <a16:creationId xmlns:a16="http://schemas.microsoft.com/office/drawing/2014/main" id="{1984D511-CD7A-1142-C118-2260127A38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6074DF-596A-CB13-56D7-2AD58E216993}"/>
              </a:ext>
            </a:extLst>
          </p:cNvPr>
          <p:cNvSpPr>
            <a:spLocks noGrp="1"/>
          </p:cNvSpPr>
          <p:nvPr>
            <p:ph type="sldNum" sz="quarter" idx="12"/>
          </p:nvPr>
        </p:nvSpPr>
        <p:spPr/>
        <p:txBody>
          <a:bodyPr/>
          <a:lstStyle/>
          <a:p>
            <a:fld id="{20CE10AD-047D-924B-BCB7-3C0A24A0E1F6}" type="slidenum">
              <a:rPr lang="en-US" smtClean="0"/>
              <a:t>‹#›</a:t>
            </a:fld>
            <a:endParaRPr lang="en-US"/>
          </a:p>
        </p:txBody>
      </p:sp>
    </p:spTree>
    <p:extLst>
      <p:ext uri="{BB962C8B-B14F-4D97-AF65-F5344CB8AC3E}">
        <p14:creationId xmlns:p14="http://schemas.microsoft.com/office/powerpoint/2010/main" val="2567665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67A343-5DCA-5C6D-F812-E486CDF825FB}"/>
              </a:ext>
            </a:extLst>
          </p:cNvPr>
          <p:cNvSpPr>
            <a:spLocks noGrp="1"/>
          </p:cNvSpPr>
          <p:nvPr>
            <p:ph type="dt" sz="half" idx="10"/>
          </p:nvPr>
        </p:nvSpPr>
        <p:spPr/>
        <p:txBody>
          <a:bodyPr/>
          <a:lstStyle/>
          <a:p>
            <a:fld id="{C53397ED-7ACB-3945-9BF3-7F5E01EFB460}" type="datetimeFigureOut">
              <a:rPr lang="en-US" smtClean="0"/>
              <a:t>9/30/26</a:t>
            </a:fld>
            <a:endParaRPr lang="en-US"/>
          </a:p>
        </p:txBody>
      </p:sp>
      <p:sp>
        <p:nvSpPr>
          <p:cNvPr id="3" name="Footer Placeholder 2">
            <a:extLst>
              <a:ext uri="{FF2B5EF4-FFF2-40B4-BE49-F238E27FC236}">
                <a16:creationId xmlns:a16="http://schemas.microsoft.com/office/drawing/2014/main" id="{E71BFD55-3386-27C2-68E6-357BC49170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B5C616-F9F0-AD87-5F6D-ED8DD6CDD8E0}"/>
              </a:ext>
            </a:extLst>
          </p:cNvPr>
          <p:cNvSpPr>
            <a:spLocks noGrp="1"/>
          </p:cNvSpPr>
          <p:nvPr>
            <p:ph type="sldNum" sz="quarter" idx="12"/>
          </p:nvPr>
        </p:nvSpPr>
        <p:spPr/>
        <p:txBody>
          <a:bodyPr/>
          <a:lstStyle/>
          <a:p>
            <a:fld id="{20CE10AD-047D-924B-BCB7-3C0A24A0E1F6}" type="slidenum">
              <a:rPr lang="en-US" smtClean="0"/>
              <a:t>‹#›</a:t>
            </a:fld>
            <a:endParaRPr lang="en-US"/>
          </a:p>
        </p:txBody>
      </p:sp>
    </p:spTree>
    <p:extLst>
      <p:ext uri="{BB962C8B-B14F-4D97-AF65-F5344CB8AC3E}">
        <p14:creationId xmlns:p14="http://schemas.microsoft.com/office/powerpoint/2010/main" val="535322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A415-7298-F49D-A3C8-1E3154CB0E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AF4705-0440-556F-0656-670F4360E1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721C87-52D4-4640-9234-5CC2F8ACB8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6AF52A-9842-A7D6-8F69-8DB40323709B}"/>
              </a:ext>
            </a:extLst>
          </p:cNvPr>
          <p:cNvSpPr>
            <a:spLocks noGrp="1"/>
          </p:cNvSpPr>
          <p:nvPr>
            <p:ph type="dt" sz="half" idx="10"/>
          </p:nvPr>
        </p:nvSpPr>
        <p:spPr/>
        <p:txBody>
          <a:bodyPr/>
          <a:lstStyle/>
          <a:p>
            <a:fld id="{C53397ED-7ACB-3945-9BF3-7F5E01EFB460}" type="datetimeFigureOut">
              <a:rPr lang="en-US" smtClean="0"/>
              <a:t>9/30/26</a:t>
            </a:fld>
            <a:endParaRPr lang="en-US"/>
          </a:p>
        </p:txBody>
      </p:sp>
      <p:sp>
        <p:nvSpPr>
          <p:cNvPr id="6" name="Footer Placeholder 5">
            <a:extLst>
              <a:ext uri="{FF2B5EF4-FFF2-40B4-BE49-F238E27FC236}">
                <a16:creationId xmlns:a16="http://schemas.microsoft.com/office/drawing/2014/main" id="{2A3A855F-2E0C-CB6F-E5CC-D90372D962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803781-2CFF-F414-FCEF-AA097F8EB294}"/>
              </a:ext>
            </a:extLst>
          </p:cNvPr>
          <p:cNvSpPr>
            <a:spLocks noGrp="1"/>
          </p:cNvSpPr>
          <p:nvPr>
            <p:ph type="sldNum" sz="quarter" idx="12"/>
          </p:nvPr>
        </p:nvSpPr>
        <p:spPr/>
        <p:txBody>
          <a:bodyPr/>
          <a:lstStyle/>
          <a:p>
            <a:fld id="{20CE10AD-047D-924B-BCB7-3C0A24A0E1F6}" type="slidenum">
              <a:rPr lang="en-US" smtClean="0"/>
              <a:t>‹#›</a:t>
            </a:fld>
            <a:endParaRPr lang="en-US"/>
          </a:p>
        </p:txBody>
      </p:sp>
    </p:spTree>
    <p:extLst>
      <p:ext uri="{BB962C8B-B14F-4D97-AF65-F5344CB8AC3E}">
        <p14:creationId xmlns:p14="http://schemas.microsoft.com/office/powerpoint/2010/main" val="3321877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216B8-308D-EBE6-58BC-0089DD093C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940823-7CE6-4781-9C14-226AC1BFBD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2DF1DE-1FCA-44BB-CB8F-A9FE749094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0D3576-8CF5-FDD8-CB7D-6F34C684EECD}"/>
              </a:ext>
            </a:extLst>
          </p:cNvPr>
          <p:cNvSpPr>
            <a:spLocks noGrp="1"/>
          </p:cNvSpPr>
          <p:nvPr>
            <p:ph type="dt" sz="half" idx="10"/>
          </p:nvPr>
        </p:nvSpPr>
        <p:spPr/>
        <p:txBody>
          <a:bodyPr/>
          <a:lstStyle/>
          <a:p>
            <a:fld id="{C53397ED-7ACB-3945-9BF3-7F5E01EFB460}" type="datetimeFigureOut">
              <a:rPr lang="en-US" smtClean="0"/>
              <a:t>9/30/26</a:t>
            </a:fld>
            <a:endParaRPr lang="en-US"/>
          </a:p>
        </p:txBody>
      </p:sp>
      <p:sp>
        <p:nvSpPr>
          <p:cNvPr id="6" name="Footer Placeholder 5">
            <a:extLst>
              <a:ext uri="{FF2B5EF4-FFF2-40B4-BE49-F238E27FC236}">
                <a16:creationId xmlns:a16="http://schemas.microsoft.com/office/drawing/2014/main" id="{842B3746-A6BB-2C98-4DD5-AA6CB0FDA4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7BF87C-4CF3-D8B5-A7A8-0C1F37545AF0}"/>
              </a:ext>
            </a:extLst>
          </p:cNvPr>
          <p:cNvSpPr>
            <a:spLocks noGrp="1"/>
          </p:cNvSpPr>
          <p:nvPr>
            <p:ph type="sldNum" sz="quarter" idx="12"/>
          </p:nvPr>
        </p:nvSpPr>
        <p:spPr/>
        <p:txBody>
          <a:bodyPr/>
          <a:lstStyle/>
          <a:p>
            <a:fld id="{20CE10AD-047D-924B-BCB7-3C0A24A0E1F6}" type="slidenum">
              <a:rPr lang="en-US" smtClean="0"/>
              <a:t>‹#›</a:t>
            </a:fld>
            <a:endParaRPr lang="en-US"/>
          </a:p>
        </p:txBody>
      </p:sp>
    </p:spTree>
    <p:extLst>
      <p:ext uri="{BB962C8B-B14F-4D97-AF65-F5344CB8AC3E}">
        <p14:creationId xmlns:p14="http://schemas.microsoft.com/office/powerpoint/2010/main" val="3320624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514C5-97B0-7FCA-3F88-2995F6C90C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CB2A5B-A3B2-566E-D878-4DB17A7EC9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7E430-9F14-52C7-9215-27D38BB8AC44}"/>
              </a:ext>
            </a:extLst>
          </p:cNvPr>
          <p:cNvSpPr>
            <a:spLocks noGrp="1"/>
          </p:cNvSpPr>
          <p:nvPr>
            <p:ph type="dt" sz="half" idx="10"/>
          </p:nvPr>
        </p:nvSpPr>
        <p:spPr/>
        <p:txBody>
          <a:bodyPr/>
          <a:lstStyle/>
          <a:p>
            <a:fld id="{C53397ED-7ACB-3945-9BF3-7F5E01EFB460}" type="datetimeFigureOut">
              <a:rPr lang="en-US" smtClean="0"/>
              <a:t>9/30/26</a:t>
            </a:fld>
            <a:endParaRPr lang="en-US"/>
          </a:p>
        </p:txBody>
      </p:sp>
      <p:sp>
        <p:nvSpPr>
          <p:cNvPr id="5" name="Footer Placeholder 4">
            <a:extLst>
              <a:ext uri="{FF2B5EF4-FFF2-40B4-BE49-F238E27FC236}">
                <a16:creationId xmlns:a16="http://schemas.microsoft.com/office/drawing/2014/main" id="{F3348103-8186-FC96-8C1C-C857105244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AD3072-14D3-9B31-D183-0E1A5C043430}"/>
              </a:ext>
            </a:extLst>
          </p:cNvPr>
          <p:cNvSpPr>
            <a:spLocks noGrp="1"/>
          </p:cNvSpPr>
          <p:nvPr>
            <p:ph type="sldNum" sz="quarter" idx="12"/>
          </p:nvPr>
        </p:nvSpPr>
        <p:spPr/>
        <p:txBody>
          <a:bodyPr/>
          <a:lstStyle/>
          <a:p>
            <a:fld id="{20CE10AD-047D-924B-BCB7-3C0A24A0E1F6}" type="slidenum">
              <a:rPr lang="en-US" smtClean="0"/>
              <a:t>‹#›</a:t>
            </a:fld>
            <a:endParaRPr lang="en-US"/>
          </a:p>
        </p:txBody>
      </p:sp>
    </p:spTree>
    <p:extLst>
      <p:ext uri="{BB962C8B-B14F-4D97-AF65-F5344CB8AC3E}">
        <p14:creationId xmlns:p14="http://schemas.microsoft.com/office/powerpoint/2010/main" val="1171962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C3E47E-36AC-8B4B-E2E1-1AA283DC394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D12D60-D024-04F9-ACBB-B5E989FA20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C3067F-69DE-13B8-45C5-197A7DD5DDE4}"/>
              </a:ext>
            </a:extLst>
          </p:cNvPr>
          <p:cNvSpPr>
            <a:spLocks noGrp="1"/>
          </p:cNvSpPr>
          <p:nvPr>
            <p:ph type="dt" sz="half" idx="10"/>
          </p:nvPr>
        </p:nvSpPr>
        <p:spPr/>
        <p:txBody>
          <a:bodyPr/>
          <a:lstStyle/>
          <a:p>
            <a:fld id="{C53397ED-7ACB-3945-9BF3-7F5E01EFB460}" type="datetimeFigureOut">
              <a:rPr lang="en-US" smtClean="0"/>
              <a:t>9/30/26</a:t>
            </a:fld>
            <a:endParaRPr lang="en-US"/>
          </a:p>
        </p:txBody>
      </p:sp>
      <p:sp>
        <p:nvSpPr>
          <p:cNvPr id="5" name="Footer Placeholder 4">
            <a:extLst>
              <a:ext uri="{FF2B5EF4-FFF2-40B4-BE49-F238E27FC236}">
                <a16:creationId xmlns:a16="http://schemas.microsoft.com/office/drawing/2014/main" id="{69FAAB65-F8AF-5077-22D3-930A575375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31E968-7D08-7369-148E-86B1FC73B88B}"/>
              </a:ext>
            </a:extLst>
          </p:cNvPr>
          <p:cNvSpPr>
            <a:spLocks noGrp="1"/>
          </p:cNvSpPr>
          <p:nvPr>
            <p:ph type="sldNum" sz="quarter" idx="12"/>
          </p:nvPr>
        </p:nvSpPr>
        <p:spPr/>
        <p:txBody>
          <a:bodyPr/>
          <a:lstStyle/>
          <a:p>
            <a:fld id="{20CE10AD-047D-924B-BCB7-3C0A24A0E1F6}" type="slidenum">
              <a:rPr lang="en-US" smtClean="0"/>
              <a:t>‹#›</a:t>
            </a:fld>
            <a:endParaRPr lang="en-US"/>
          </a:p>
        </p:txBody>
      </p:sp>
    </p:spTree>
    <p:extLst>
      <p:ext uri="{BB962C8B-B14F-4D97-AF65-F5344CB8AC3E}">
        <p14:creationId xmlns:p14="http://schemas.microsoft.com/office/powerpoint/2010/main" val="3261516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D272E9-64C8-8726-72AC-ECC01238CC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46FF8D-A746-8F12-2325-D467865F08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BB66A8-B92D-0BE4-9733-2EDE796853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3397ED-7ACB-3945-9BF3-7F5E01EFB460}" type="datetimeFigureOut">
              <a:rPr lang="en-US" smtClean="0"/>
              <a:t>9/30/26</a:t>
            </a:fld>
            <a:endParaRPr lang="en-US"/>
          </a:p>
        </p:txBody>
      </p:sp>
      <p:sp>
        <p:nvSpPr>
          <p:cNvPr id="5" name="Footer Placeholder 4">
            <a:extLst>
              <a:ext uri="{FF2B5EF4-FFF2-40B4-BE49-F238E27FC236}">
                <a16:creationId xmlns:a16="http://schemas.microsoft.com/office/drawing/2014/main" id="{472B7D1D-7FE2-080D-4AE5-6D05C7B01D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13B039D-8467-D62C-EC4E-95BA7A493D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CE10AD-047D-924B-BCB7-3C0A24A0E1F6}" type="slidenum">
              <a:rPr lang="en-US" smtClean="0"/>
              <a:t>‹#›</a:t>
            </a:fld>
            <a:endParaRPr lang="en-US"/>
          </a:p>
        </p:txBody>
      </p:sp>
    </p:spTree>
    <p:extLst>
      <p:ext uri="{BB962C8B-B14F-4D97-AF65-F5344CB8AC3E}">
        <p14:creationId xmlns:p14="http://schemas.microsoft.com/office/powerpoint/2010/main" val="1578658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EC6B58-9B6A-0B6A-50B6-EDACE73A01F3}"/>
              </a:ext>
            </a:extLst>
          </p:cNvPr>
          <p:cNvSpPr txBox="1"/>
          <p:nvPr/>
        </p:nvSpPr>
        <p:spPr>
          <a:xfrm>
            <a:off x="1382751" y="501805"/>
            <a:ext cx="1895708" cy="369332"/>
          </a:xfrm>
          <a:prstGeom prst="rect">
            <a:avLst/>
          </a:prstGeom>
          <a:noFill/>
        </p:spPr>
        <p:txBody>
          <a:bodyPr wrap="square" rtlCol="0">
            <a:spAutoFit/>
          </a:bodyPr>
          <a:lstStyle/>
          <a:p>
            <a:r>
              <a:rPr lang="en-US" dirty="0"/>
              <a:t>About me</a:t>
            </a:r>
          </a:p>
        </p:txBody>
      </p:sp>
      <p:sp>
        <p:nvSpPr>
          <p:cNvPr id="3" name="TextBox 2">
            <a:extLst>
              <a:ext uri="{FF2B5EF4-FFF2-40B4-BE49-F238E27FC236}">
                <a16:creationId xmlns:a16="http://schemas.microsoft.com/office/drawing/2014/main" id="{D966766F-60C6-A9B3-063A-7CF345A48B65}"/>
              </a:ext>
            </a:extLst>
          </p:cNvPr>
          <p:cNvSpPr txBox="1"/>
          <p:nvPr/>
        </p:nvSpPr>
        <p:spPr>
          <a:xfrm>
            <a:off x="3453160" y="501805"/>
            <a:ext cx="1895708" cy="369332"/>
          </a:xfrm>
          <a:prstGeom prst="rect">
            <a:avLst/>
          </a:prstGeom>
          <a:noFill/>
        </p:spPr>
        <p:txBody>
          <a:bodyPr wrap="square" rtlCol="0">
            <a:spAutoFit/>
          </a:bodyPr>
          <a:lstStyle/>
          <a:p>
            <a:r>
              <a:rPr lang="en-US" dirty="0"/>
              <a:t>Research</a:t>
            </a:r>
          </a:p>
        </p:txBody>
      </p:sp>
      <p:sp>
        <p:nvSpPr>
          <p:cNvPr id="4" name="TextBox 3">
            <a:extLst>
              <a:ext uri="{FF2B5EF4-FFF2-40B4-BE49-F238E27FC236}">
                <a16:creationId xmlns:a16="http://schemas.microsoft.com/office/drawing/2014/main" id="{7F43A77B-64D2-37FA-14AB-05E10E11C811}"/>
              </a:ext>
            </a:extLst>
          </p:cNvPr>
          <p:cNvSpPr txBox="1"/>
          <p:nvPr/>
        </p:nvSpPr>
        <p:spPr>
          <a:xfrm>
            <a:off x="5895280" y="501805"/>
            <a:ext cx="1895708" cy="369332"/>
          </a:xfrm>
          <a:prstGeom prst="rect">
            <a:avLst/>
          </a:prstGeom>
          <a:noFill/>
        </p:spPr>
        <p:txBody>
          <a:bodyPr wrap="square" rtlCol="0">
            <a:spAutoFit/>
          </a:bodyPr>
          <a:lstStyle/>
          <a:p>
            <a:r>
              <a:rPr lang="en-US" dirty="0"/>
              <a:t>Publication</a:t>
            </a:r>
          </a:p>
        </p:txBody>
      </p:sp>
      <p:sp>
        <p:nvSpPr>
          <p:cNvPr id="5" name="TextBox 4">
            <a:extLst>
              <a:ext uri="{FF2B5EF4-FFF2-40B4-BE49-F238E27FC236}">
                <a16:creationId xmlns:a16="http://schemas.microsoft.com/office/drawing/2014/main" id="{30FDDF73-984B-0C7C-8328-73A3AD116A50}"/>
              </a:ext>
            </a:extLst>
          </p:cNvPr>
          <p:cNvSpPr txBox="1"/>
          <p:nvPr/>
        </p:nvSpPr>
        <p:spPr>
          <a:xfrm>
            <a:off x="782233" y="1252067"/>
            <a:ext cx="6753339" cy="5355312"/>
          </a:xfrm>
          <a:prstGeom prst="rect">
            <a:avLst/>
          </a:prstGeom>
          <a:noFill/>
        </p:spPr>
        <p:txBody>
          <a:bodyPr wrap="square" rtlCol="0">
            <a:spAutoFit/>
          </a:bodyPr>
          <a:lstStyle/>
          <a:p>
            <a:r>
              <a:rPr lang="en-US"/>
              <a:t>I am a cross-displinary scientist. My research bridges ecology, hydrology, biogeochemistry, and climate science, shaped by my unique path approaching science from multi-discriplinary trainings. The mission of my research is 1) to uncover principles and mechanisms regulating the organization and functioning of complex ecosystems; 2) to project biota and ecosystem re-organization under global change, and 3) to propose solutions that can facilitate organism and human adaptation to the changing environments. </a:t>
            </a:r>
          </a:p>
          <a:p>
            <a:endParaRPr lang="en-US"/>
          </a:p>
          <a:p>
            <a:r>
              <a:rPr lang="en-US"/>
              <a:t>My research is largely motivated by my curiousity to understand how complex adaptive systems–from the Earth system to tiny plankton community–work. I therefore value holistic systems approaches. By investigating adaptive capacity of organisms, interactions and feedbacks among living and non-living components in diverse ecosystems, grounded on observations, experiments and modelling, I aim to develop unifying theory and laws explaining and anticipating the evolving trajectories </a:t>
            </a:r>
            <a:r>
              <a:rPr lang="en-US">
                <a:highlight>
                  <a:srgbClr val="FFFF00"/>
                </a:highlight>
              </a:rPr>
              <a:t>of natural and human-modified</a:t>
            </a:r>
            <a:r>
              <a:rPr lang="en-US"/>
              <a:t> ecosystems under a changing planet. </a:t>
            </a:r>
          </a:p>
        </p:txBody>
      </p:sp>
      <p:sp>
        <p:nvSpPr>
          <p:cNvPr id="6" name="TextBox 5">
            <a:extLst>
              <a:ext uri="{FF2B5EF4-FFF2-40B4-BE49-F238E27FC236}">
                <a16:creationId xmlns:a16="http://schemas.microsoft.com/office/drawing/2014/main" id="{D1562BE7-3043-50D8-92FD-1E2B44AAFCC5}"/>
              </a:ext>
            </a:extLst>
          </p:cNvPr>
          <p:cNvSpPr txBox="1"/>
          <p:nvPr/>
        </p:nvSpPr>
        <p:spPr>
          <a:xfrm>
            <a:off x="8241306" y="1444724"/>
            <a:ext cx="2732184" cy="2585323"/>
          </a:xfrm>
          <a:prstGeom prst="rect">
            <a:avLst/>
          </a:prstGeom>
          <a:noFill/>
        </p:spPr>
        <p:txBody>
          <a:bodyPr wrap="square" rtlCol="0">
            <a:spAutoFit/>
          </a:bodyPr>
          <a:lstStyle/>
          <a:p>
            <a:r>
              <a:rPr lang="en-US"/>
              <a:t>Biodiversity and complex system science </a:t>
            </a:r>
          </a:p>
          <a:p>
            <a:endParaRPr lang="en-US"/>
          </a:p>
          <a:p>
            <a:endParaRPr lang="en-US"/>
          </a:p>
          <a:p>
            <a:r>
              <a:rPr lang="en-US"/>
              <a:t>The mission of my research</a:t>
            </a:r>
          </a:p>
          <a:p>
            <a:endParaRPr lang="en-US"/>
          </a:p>
          <a:p>
            <a:r>
              <a:rPr lang="en-US"/>
              <a:t>The motivation of my research</a:t>
            </a:r>
          </a:p>
        </p:txBody>
      </p:sp>
      <p:sp>
        <p:nvSpPr>
          <p:cNvPr id="7" name="TextBox 6">
            <a:extLst>
              <a:ext uri="{FF2B5EF4-FFF2-40B4-BE49-F238E27FC236}">
                <a16:creationId xmlns:a16="http://schemas.microsoft.com/office/drawing/2014/main" id="{C4A70670-56BA-3715-260F-79F8BE8A52FB}"/>
              </a:ext>
            </a:extLst>
          </p:cNvPr>
          <p:cNvSpPr txBox="1"/>
          <p:nvPr/>
        </p:nvSpPr>
        <p:spPr>
          <a:xfrm>
            <a:off x="8240617" y="4693186"/>
            <a:ext cx="3018622" cy="369332"/>
          </a:xfrm>
          <a:prstGeom prst="rect">
            <a:avLst/>
          </a:prstGeom>
          <a:noFill/>
        </p:spPr>
        <p:txBody>
          <a:bodyPr wrap="square" rtlCol="0">
            <a:spAutoFit/>
          </a:bodyPr>
          <a:lstStyle/>
          <a:p>
            <a:r>
              <a:rPr lang="en-US"/>
              <a:t>Check Jacky Liu’s website. </a:t>
            </a:r>
          </a:p>
        </p:txBody>
      </p:sp>
    </p:spTree>
    <p:extLst>
      <p:ext uri="{BB962C8B-B14F-4D97-AF65-F5344CB8AC3E}">
        <p14:creationId xmlns:p14="http://schemas.microsoft.com/office/powerpoint/2010/main" val="3355044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AFDB3A-F092-239A-DAFA-F4D99C5496ED}"/>
              </a:ext>
            </a:extLst>
          </p:cNvPr>
          <p:cNvSpPr txBox="1"/>
          <p:nvPr/>
        </p:nvSpPr>
        <p:spPr>
          <a:xfrm>
            <a:off x="445770" y="320040"/>
            <a:ext cx="4331970" cy="461665"/>
          </a:xfrm>
          <a:prstGeom prst="rect">
            <a:avLst/>
          </a:prstGeom>
          <a:noFill/>
        </p:spPr>
        <p:txBody>
          <a:bodyPr wrap="square" rtlCol="0">
            <a:spAutoFit/>
          </a:bodyPr>
          <a:lstStyle/>
          <a:p>
            <a:r>
              <a:rPr lang="en-US" sz="2400"/>
              <a:t>What ChatGPT has told us?</a:t>
            </a:r>
          </a:p>
        </p:txBody>
      </p:sp>
      <p:sp>
        <p:nvSpPr>
          <p:cNvPr id="4" name="TextBox 3">
            <a:extLst>
              <a:ext uri="{FF2B5EF4-FFF2-40B4-BE49-F238E27FC236}">
                <a16:creationId xmlns:a16="http://schemas.microsoft.com/office/drawing/2014/main" id="{0C5DD50C-169A-C9C3-EEF9-8C6B7CE516DD}"/>
              </a:ext>
            </a:extLst>
          </p:cNvPr>
          <p:cNvSpPr txBox="1"/>
          <p:nvPr/>
        </p:nvSpPr>
        <p:spPr>
          <a:xfrm>
            <a:off x="694372" y="1336328"/>
            <a:ext cx="8552497" cy="5078313"/>
          </a:xfrm>
          <a:prstGeom prst="rect">
            <a:avLst/>
          </a:prstGeom>
          <a:noFill/>
        </p:spPr>
        <p:txBody>
          <a:bodyPr wrap="square">
            <a:spAutoFit/>
          </a:bodyPr>
          <a:lstStyle/>
          <a:p>
            <a:pPr>
              <a:buNone/>
            </a:pPr>
            <a:r>
              <a:rPr lang="en-US"/>
              <a:t>I am a cross-disciplinary scientist whose research bridges ecology, hydrology, biogeochemistry, and climate science. My research perspective has been shaped by multidisciplinary training and by working across terrestrial and aquatic systems, from relatively natural ecosystems to those strongly modified by human activities. The overarching mission of my research is to: (1) uncover the principles and mechanisms governing the organization and functioning of complex ecosystems; (2) anticipate how biological communities and ecosystem processes reorganize under global environmental change; and (3) develop science-based solutions that enhance the capacity of both ecosystems and human societies to adapt to changing environments.</a:t>
            </a:r>
          </a:p>
          <a:p>
            <a:pPr>
              <a:buNone/>
            </a:pPr>
            <a:r>
              <a:rPr lang="en-US"/>
              <a:t>My research is driven by a fundamental curiosity about how complex adaptive systems operate across scales, from the Earth system to plankton communities. This motivates me to take a holistic, systems-oriented approach that integrates biological adaptation with interactions and feedbacks among organisms, climate, hydrology, and biogeochemical processes. By combining observations, experiments, data synthesis, and modeling across diverse ecosystems, I seek to identify general principles and develop predictive frameworks for explaining and anticipating the trajectories of natural and human-modified ecosystems on a rapidly changing planet.</a:t>
            </a:r>
          </a:p>
        </p:txBody>
      </p:sp>
    </p:spTree>
    <p:extLst>
      <p:ext uri="{BB962C8B-B14F-4D97-AF65-F5344CB8AC3E}">
        <p14:creationId xmlns:p14="http://schemas.microsoft.com/office/powerpoint/2010/main" val="1330255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B7799E-AACB-7CDB-7CDD-E3AB79A9FE4E}"/>
              </a:ext>
            </a:extLst>
          </p:cNvPr>
          <p:cNvSpPr txBox="1"/>
          <p:nvPr/>
        </p:nvSpPr>
        <p:spPr>
          <a:xfrm>
            <a:off x="1448752" y="870288"/>
            <a:ext cx="8809673" cy="1477328"/>
          </a:xfrm>
          <a:prstGeom prst="rect">
            <a:avLst/>
          </a:prstGeom>
          <a:noFill/>
        </p:spPr>
        <p:txBody>
          <a:bodyPr wrap="square">
            <a:spAutoFit/>
          </a:bodyPr>
          <a:lstStyle/>
          <a:p>
            <a:r>
              <a:rPr lang="en-US"/>
              <a:t>I am a cross-disciplinary scientist curous about how complex adaptive systems–from the Earth System to tiny plankton communities–reorganize and alter their functioning under global change. My research bridges ecology, hydrology, biogeochemistry, and climate science, shaped by my unique path approaching science from multi-discriplinary trainings.</a:t>
            </a:r>
          </a:p>
        </p:txBody>
      </p:sp>
      <p:sp>
        <p:nvSpPr>
          <p:cNvPr id="5" name="TextBox 4">
            <a:extLst>
              <a:ext uri="{FF2B5EF4-FFF2-40B4-BE49-F238E27FC236}">
                <a16:creationId xmlns:a16="http://schemas.microsoft.com/office/drawing/2014/main" id="{5FE4A8F6-B3BB-2D92-3A8B-25D3DD097A9C}"/>
              </a:ext>
            </a:extLst>
          </p:cNvPr>
          <p:cNvSpPr txBox="1"/>
          <p:nvPr/>
        </p:nvSpPr>
        <p:spPr>
          <a:xfrm>
            <a:off x="1448752" y="2584697"/>
            <a:ext cx="8621077" cy="1477328"/>
          </a:xfrm>
          <a:prstGeom prst="rect">
            <a:avLst/>
          </a:prstGeom>
          <a:noFill/>
        </p:spPr>
        <p:txBody>
          <a:bodyPr wrap="square">
            <a:spAutoFit/>
          </a:bodyPr>
          <a:lstStyle/>
          <a:p>
            <a:pPr>
              <a:buNone/>
            </a:pPr>
            <a:r>
              <a:rPr lang="en-US"/>
              <a:t>The mission of my research is to: (1) uncover the principles and mechanisms governing the organization and functioning of complex ecosystems; (2) predict how organisms adapt, communities reorganize, and ecosystem functions shift under global environmental change; and (3) develop solutions that facilitate biological and human adaptation to a changing planet.</a:t>
            </a:r>
          </a:p>
        </p:txBody>
      </p:sp>
      <p:sp>
        <p:nvSpPr>
          <p:cNvPr id="6" name="TextBox 5">
            <a:extLst>
              <a:ext uri="{FF2B5EF4-FFF2-40B4-BE49-F238E27FC236}">
                <a16:creationId xmlns:a16="http://schemas.microsoft.com/office/drawing/2014/main" id="{9649D03D-8E23-50ED-6D0F-8188CF125563}"/>
              </a:ext>
            </a:extLst>
          </p:cNvPr>
          <p:cNvSpPr txBox="1"/>
          <p:nvPr/>
        </p:nvSpPr>
        <p:spPr>
          <a:xfrm>
            <a:off x="1448752" y="4500563"/>
            <a:ext cx="8343900" cy="2031325"/>
          </a:xfrm>
          <a:prstGeom prst="rect">
            <a:avLst/>
          </a:prstGeom>
          <a:noFill/>
        </p:spPr>
        <p:txBody>
          <a:bodyPr wrap="square" rtlCol="0">
            <a:spAutoFit/>
          </a:bodyPr>
          <a:lstStyle/>
          <a:p>
            <a:r>
              <a:rPr lang="en-US"/>
              <a:t>To pursue these goals, I embrace systems thinking and holistic systems approaches. By integrating concepts and tools from multi-disciplines with observations, experiments, and mathematical models across diverse systems, my research seeks to quantify organisms’ adaptive capacity, disentangle interactions and feedbacks among biotic and abiotic components, reveal nonlinear dynamics and emergent patterns, and anticipate critical transitions across spatial and temporal scales.</a:t>
            </a:r>
          </a:p>
        </p:txBody>
      </p:sp>
      <p:sp>
        <p:nvSpPr>
          <p:cNvPr id="7" name="TextBox 6">
            <a:extLst>
              <a:ext uri="{FF2B5EF4-FFF2-40B4-BE49-F238E27FC236}">
                <a16:creationId xmlns:a16="http://schemas.microsoft.com/office/drawing/2014/main" id="{261C39CD-6F8C-B908-02CD-336F78196526}"/>
              </a:ext>
            </a:extLst>
          </p:cNvPr>
          <p:cNvSpPr txBox="1"/>
          <p:nvPr/>
        </p:nvSpPr>
        <p:spPr>
          <a:xfrm>
            <a:off x="10444163" y="4686300"/>
            <a:ext cx="1747837" cy="1015663"/>
          </a:xfrm>
          <a:prstGeom prst="rect">
            <a:avLst/>
          </a:prstGeom>
          <a:noFill/>
        </p:spPr>
        <p:txBody>
          <a:bodyPr wrap="square" rtlCol="0">
            <a:spAutoFit/>
          </a:bodyPr>
          <a:lstStyle/>
          <a:p>
            <a:r>
              <a:rPr lang="en-US" sz="2000">
                <a:highlight>
                  <a:srgbClr val="FFFF00"/>
                </a:highlight>
              </a:rPr>
              <a:t>I do not need this part on the website. </a:t>
            </a:r>
          </a:p>
        </p:txBody>
      </p:sp>
    </p:spTree>
    <p:extLst>
      <p:ext uri="{BB962C8B-B14F-4D97-AF65-F5344CB8AC3E}">
        <p14:creationId xmlns:p14="http://schemas.microsoft.com/office/powerpoint/2010/main" val="3754947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EA16C2-DDA8-03F6-5411-547AEEBC4CD6}"/>
              </a:ext>
            </a:extLst>
          </p:cNvPr>
          <p:cNvSpPr txBox="1"/>
          <p:nvPr/>
        </p:nvSpPr>
        <p:spPr>
          <a:xfrm>
            <a:off x="1053885" y="511444"/>
            <a:ext cx="7780149" cy="4801314"/>
          </a:xfrm>
          <a:prstGeom prst="rect">
            <a:avLst/>
          </a:prstGeom>
          <a:noFill/>
        </p:spPr>
        <p:txBody>
          <a:bodyPr wrap="square" rtlCol="0">
            <a:spAutoFit/>
          </a:bodyPr>
          <a:lstStyle/>
          <a:p>
            <a:r>
              <a:rPr lang="en-US"/>
              <a:t>The first page should be the ecosystems I have studied:</a:t>
            </a:r>
          </a:p>
          <a:p>
            <a:endParaRPr lang="en-US"/>
          </a:p>
          <a:p>
            <a:r>
              <a:rPr lang="en-US"/>
              <a:t>Diverse plant communities. (go to Beijing botonic gardens)</a:t>
            </a:r>
          </a:p>
          <a:p>
            <a:endParaRPr lang="en-US"/>
          </a:p>
          <a:p>
            <a:r>
              <a:rPr lang="en-US"/>
              <a:t>Forest ecosystems with flux towers</a:t>
            </a:r>
          </a:p>
          <a:p>
            <a:endParaRPr lang="en-US"/>
          </a:p>
          <a:p>
            <a:r>
              <a:rPr lang="en-US"/>
              <a:t>The Yangtze River, </a:t>
            </a:r>
          </a:p>
          <a:p>
            <a:endParaRPr lang="en-US"/>
          </a:p>
          <a:p>
            <a:r>
              <a:rPr lang="en-US"/>
              <a:t>The lower Minosota River</a:t>
            </a:r>
          </a:p>
          <a:p>
            <a:endParaRPr lang="en-US"/>
          </a:p>
          <a:p>
            <a:r>
              <a:rPr lang="en-US"/>
              <a:t>The San Joaquin River</a:t>
            </a:r>
          </a:p>
          <a:p>
            <a:endParaRPr lang="en-US"/>
          </a:p>
          <a:p>
            <a:r>
              <a:rPr lang="en-US"/>
              <a:t>The San John Estuary</a:t>
            </a:r>
          </a:p>
          <a:p>
            <a:endParaRPr lang="en-US"/>
          </a:p>
          <a:p>
            <a:r>
              <a:rPr lang="en-US"/>
              <a:t>The YoloBypass</a:t>
            </a:r>
          </a:p>
          <a:p>
            <a:endParaRPr lang="en-US"/>
          </a:p>
          <a:p>
            <a:r>
              <a:rPr lang="en-US"/>
              <a:t>The Sycamore Creek</a:t>
            </a:r>
          </a:p>
        </p:txBody>
      </p:sp>
    </p:spTree>
    <p:extLst>
      <p:ext uri="{BB962C8B-B14F-4D97-AF65-F5344CB8AC3E}">
        <p14:creationId xmlns:p14="http://schemas.microsoft.com/office/powerpoint/2010/main" val="93099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140C20-8782-D782-6F36-B759554425DD}"/>
              </a:ext>
            </a:extLst>
          </p:cNvPr>
          <p:cNvSpPr txBox="1"/>
          <p:nvPr/>
        </p:nvSpPr>
        <p:spPr>
          <a:xfrm>
            <a:off x="3599761" y="338635"/>
            <a:ext cx="1313762" cy="369332"/>
          </a:xfrm>
          <a:prstGeom prst="rect">
            <a:avLst/>
          </a:prstGeom>
          <a:noFill/>
        </p:spPr>
        <p:txBody>
          <a:bodyPr wrap="square">
            <a:spAutoFit/>
          </a:bodyPr>
          <a:lstStyle/>
          <a:p>
            <a:r>
              <a:rPr lang="en-US" sz="1800" b="1" dirty="0"/>
              <a:t>Research</a:t>
            </a:r>
          </a:p>
        </p:txBody>
      </p:sp>
      <p:sp>
        <p:nvSpPr>
          <p:cNvPr id="4" name="TextBox 3">
            <a:extLst>
              <a:ext uri="{FF2B5EF4-FFF2-40B4-BE49-F238E27FC236}">
                <a16:creationId xmlns:a16="http://schemas.microsoft.com/office/drawing/2014/main" id="{3A59972A-D899-3367-755C-520EAA114DBD}"/>
              </a:ext>
            </a:extLst>
          </p:cNvPr>
          <p:cNvSpPr txBox="1"/>
          <p:nvPr/>
        </p:nvSpPr>
        <p:spPr>
          <a:xfrm>
            <a:off x="903383" y="1211855"/>
            <a:ext cx="1718631" cy="369332"/>
          </a:xfrm>
          <a:prstGeom prst="rect">
            <a:avLst/>
          </a:prstGeom>
          <a:noFill/>
        </p:spPr>
        <p:txBody>
          <a:bodyPr wrap="square" rtlCol="0">
            <a:spAutoFit/>
          </a:bodyPr>
          <a:lstStyle/>
          <a:p>
            <a:r>
              <a:rPr lang="en-US"/>
              <a:t>Biodiversity</a:t>
            </a:r>
          </a:p>
        </p:txBody>
      </p:sp>
      <p:sp>
        <p:nvSpPr>
          <p:cNvPr id="5" name="TextBox 4">
            <a:extLst>
              <a:ext uri="{FF2B5EF4-FFF2-40B4-BE49-F238E27FC236}">
                <a16:creationId xmlns:a16="http://schemas.microsoft.com/office/drawing/2014/main" id="{11C8B8D1-EECA-8F05-6B35-117D78379519}"/>
              </a:ext>
            </a:extLst>
          </p:cNvPr>
          <p:cNvSpPr txBox="1"/>
          <p:nvPr/>
        </p:nvSpPr>
        <p:spPr>
          <a:xfrm>
            <a:off x="3971897" y="1259382"/>
            <a:ext cx="1718631" cy="369332"/>
          </a:xfrm>
          <a:prstGeom prst="rect">
            <a:avLst/>
          </a:prstGeom>
          <a:noFill/>
        </p:spPr>
        <p:txBody>
          <a:bodyPr wrap="square" rtlCol="0">
            <a:spAutoFit/>
          </a:bodyPr>
          <a:lstStyle/>
          <a:p>
            <a:r>
              <a:rPr lang="en-US"/>
              <a:t>Ecohydrology</a:t>
            </a:r>
          </a:p>
        </p:txBody>
      </p:sp>
      <p:sp>
        <p:nvSpPr>
          <p:cNvPr id="6" name="TextBox 5">
            <a:extLst>
              <a:ext uri="{FF2B5EF4-FFF2-40B4-BE49-F238E27FC236}">
                <a16:creationId xmlns:a16="http://schemas.microsoft.com/office/drawing/2014/main" id="{20A0426F-8AF1-4388-D57E-784E698396A6}"/>
              </a:ext>
            </a:extLst>
          </p:cNvPr>
          <p:cNvSpPr txBox="1"/>
          <p:nvPr/>
        </p:nvSpPr>
        <p:spPr>
          <a:xfrm>
            <a:off x="7722826" y="1266734"/>
            <a:ext cx="2196029" cy="369332"/>
          </a:xfrm>
          <a:prstGeom prst="rect">
            <a:avLst/>
          </a:prstGeom>
          <a:noFill/>
        </p:spPr>
        <p:txBody>
          <a:bodyPr wrap="square" rtlCol="0">
            <a:spAutoFit/>
          </a:bodyPr>
          <a:lstStyle/>
          <a:p>
            <a:r>
              <a:rPr lang="en-US"/>
              <a:t>Biogeochemistry</a:t>
            </a:r>
          </a:p>
        </p:txBody>
      </p:sp>
      <p:sp>
        <p:nvSpPr>
          <p:cNvPr id="7" name="TextBox 6">
            <a:extLst>
              <a:ext uri="{FF2B5EF4-FFF2-40B4-BE49-F238E27FC236}">
                <a16:creationId xmlns:a16="http://schemas.microsoft.com/office/drawing/2014/main" id="{2D73D9AB-9849-B274-D5ED-5B92C3C7CE1C}"/>
              </a:ext>
            </a:extLst>
          </p:cNvPr>
          <p:cNvSpPr txBox="1"/>
          <p:nvPr/>
        </p:nvSpPr>
        <p:spPr>
          <a:xfrm>
            <a:off x="8317735" y="5530467"/>
            <a:ext cx="2622014" cy="646331"/>
          </a:xfrm>
          <a:prstGeom prst="rect">
            <a:avLst/>
          </a:prstGeom>
          <a:noFill/>
        </p:spPr>
        <p:txBody>
          <a:bodyPr wrap="square" rtlCol="0">
            <a:spAutoFit/>
          </a:bodyPr>
          <a:lstStyle/>
          <a:p>
            <a:r>
              <a:rPr lang="en-US"/>
              <a:t>My water research, jem, Xiaoli’s PNAS</a:t>
            </a:r>
          </a:p>
        </p:txBody>
      </p:sp>
      <p:sp>
        <p:nvSpPr>
          <p:cNvPr id="8" name="TextBox 7">
            <a:extLst>
              <a:ext uri="{FF2B5EF4-FFF2-40B4-BE49-F238E27FC236}">
                <a16:creationId xmlns:a16="http://schemas.microsoft.com/office/drawing/2014/main" id="{F855C1E5-A54F-FD70-D406-359F91F0861D}"/>
              </a:ext>
            </a:extLst>
          </p:cNvPr>
          <p:cNvSpPr txBox="1"/>
          <p:nvPr/>
        </p:nvSpPr>
        <p:spPr>
          <a:xfrm>
            <a:off x="8317735" y="2872329"/>
            <a:ext cx="1762699" cy="369332"/>
          </a:xfrm>
          <a:prstGeom prst="rect">
            <a:avLst/>
          </a:prstGeom>
          <a:noFill/>
        </p:spPr>
        <p:txBody>
          <a:bodyPr wrap="square" rtlCol="0">
            <a:spAutoFit/>
          </a:bodyPr>
          <a:lstStyle/>
          <a:p>
            <a:r>
              <a:rPr lang="en-US"/>
              <a:t>Phytoplankton</a:t>
            </a:r>
          </a:p>
        </p:txBody>
      </p:sp>
      <p:sp>
        <p:nvSpPr>
          <p:cNvPr id="9" name="TextBox 8">
            <a:extLst>
              <a:ext uri="{FF2B5EF4-FFF2-40B4-BE49-F238E27FC236}">
                <a16:creationId xmlns:a16="http://schemas.microsoft.com/office/drawing/2014/main" id="{D5273509-585A-DA69-B61B-C61D0907CABB}"/>
              </a:ext>
            </a:extLst>
          </p:cNvPr>
          <p:cNvSpPr txBox="1"/>
          <p:nvPr/>
        </p:nvSpPr>
        <p:spPr>
          <a:xfrm>
            <a:off x="8317735" y="2067378"/>
            <a:ext cx="1762699" cy="369332"/>
          </a:xfrm>
          <a:prstGeom prst="rect">
            <a:avLst/>
          </a:prstGeom>
          <a:noFill/>
        </p:spPr>
        <p:txBody>
          <a:bodyPr wrap="square" rtlCol="0">
            <a:spAutoFit/>
          </a:bodyPr>
          <a:lstStyle/>
          <a:p>
            <a:r>
              <a:rPr lang="en-US"/>
              <a:t>Zooplankton</a:t>
            </a:r>
          </a:p>
        </p:txBody>
      </p:sp>
      <p:cxnSp>
        <p:nvCxnSpPr>
          <p:cNvPr id="11" name="Straight Arrow Connector 10">
            <a:extLst>
              <a:ext uri="{FF2B5EF4-FFF2-40B4-BE49-F238E27FC236}">
                <a16:creationId xmlns:a16="http://schemas.microsoft.com/office/drawing/2014/main" id="{DFD87FA2-716B-36B6-B9BC-7F8ED96F8B55}"/>
              </a:ext>
            </a:extLst>
          </p:cNvPr>
          <p:cNvCxnSpPr>
            <a:stCxn id="8" idx="0"/>
            <a:endCxn id="9" idx="2"/>
          </p:cNvCxnSpPr>
          <p:nvPr/>
        </p:nvCxnSpPr>
        <p:spPr>
          <a:xfrm flipV="1">
            <a:off x="9199085" y="2436710"/>
            <a:ext cx="0" cy="4356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5564DDF3-F514-D555-78BB-A35FC60570FA}"/>
              </a:ext>
            </a:extLst>
          </p:cNvPr>
          <p:cNvCxnSpPr>
            <a:cxnSpLocks/>
          </p:cNvCxnSpPr>
          <p:nvPr/>
        </p:nvCxnSpPr>
        <p:spPr>
          <a:xfrm>
            <a:off x="9786652" y="2271257"/>
            <a:ext cx="1222872" cy="12889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FF5E290C-E0CA-9553-F8A7-A7D5BD093810}"/>
              </a:ext>
            </a:extLst>
          </p:cNvPr>
          <p:cNvCxnSpPr>
            <a:cxnSpLocks/>
          </p:cNvCxnSpPr>
          <p:nvPr/>
        </p:nvCxnSpPr>
        <p:spPr>
          <a:xfrm>
            <a:off x="9918855" y="3086505"/>
            <a:ext cx="594910" cy="5774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A6899A3-8CE3-113D-784E-BC87F1C0ABB6}"/>
              </a:ext>
            </a:extLst>
          </p:cNvPr>
          <p:cNvSpPr txBox="1"/>
          <p:nvPr/>
        </p:nvSpPr>
        <p:spPr>
          <a:xfrm>
            <a:off x="9623121" y="3663972"/>
            <a:ext cx="2568879" cy="876760"/>
          </a:xfrm>
          <a:prstGeom prst="rect">
            <a:avLst/>
          </a:prstGeom>
          <a:noFill/>
          <a:ln w="12700">
            <a:solidFill>
              <a:schemeClr val="accent1"/>
            </a:solidFill>
          </a:ln>
        </p:spPr>
        <p:txBody>
          <a:bodyPr wrap="square" rtlCol="0">
            <a:spAutoFit/>
          </a:bodyPr>
          <a:lstStyle/>
          <a:p>
            <a:endParaRPr lang="en-US"/>
          </a:p>
        </p:txBody>
      </p:sp>
      <p:sp>
        <p:nvSpPr>
          <p:cNvPr id="25" name="TextBox 24">
            <a:extLst>
              <a:ext uri="{FF2B5EF4-FFF2-40B4-BE49-F238E27FC236}">
                <a16:creationId xmlns:a16="http://schemas.microsoft.com/office/drawing/2014/main" id="{15760112-5DD4-4D8E-4823-9E40E47747A1}"/>
              </a:ext>
            </a:extLst>
          </p:cNvPr>
          <p:cNvSpPr txBox="1"/>
          <p:nvPr/>
        </p:nvSpPr>
        <p:spPr>
          <a:xfrm>
            <a:off x="9623121" y="3725062"/>
            <a:ext cx="1829833" cy="369332"/>
          </a:xfrm>
          <a:prstGeom prst="rect">
            <a:avLst/>
          </a:prstGeom>
          <a:noFill/>
        </p:spPr>
        <p:txBody>
          <a:bodyPr wrap="square" rtlCol="0">
            <a:spAutoFit/>
          </a:bodyPr>
          <a:lstStyle/>
          <a:p>
            <a:r>
              <a:rPr lang="en-US"/>
              <a:t>Organic matter</a:t>
            </a:r>
          </a:p>
        </p:txBody>
      </p:sp>
      <p:sp>
        <p:nvSpPr>
          <p:cNvPr id="26" name="TextBox 25">
            <a:extLst>
              <a:ext uri="{FF2B5EF4-FFF2-40B4-BE49-F238E27FC236}">
                <a16:creationId xmlns:a16="http://schemas.microsoft.com/office/drawing/2014/main" id="{EF30A9B3-BB20-0F79-8A43-EB80CBB17492}"/>
              </a:ext>
            </a:extLst>
          </p:cNvPr>
          <p:cNvSpPr txBox="1"/>
          <p:nvPr/>
        </p:nvSpPr>
        <p:spPr>
          <a:xfrm>
            <a:off x="9786652" y="4195766"/>
            <a:ext cx="972583" cy="369332"/>
          </a:xfrm>
          <a:prstGeom prst="rect">
            <a:avLst/>
          </a:prstGeom>
          <a:noFill/>
        </p:spPr>
        <p:txBody>
          <a:bodyPr wrap="square" rtlCol="0">
            <a:spAutoFit/>
          </a:bodyPr>
          <a:lstStyle/>
          <a:p>
            <a:r>
              <a:rPr lang="en-US"/>
              <a:t>Org C</a:t>
            </a:r>
          </a:p>
        </p:txBody>
      </p:sp>
      <p:sp>
        <p:nvSpPr>
          <p:cNvPr id="27" name="TextBox 26">
            <a:extLst>
              <a:ext uri="{FF2B5EF4-FFF2-40B4-BE49-F238E27FC236}">
                <a16:creationId xmlns:a16="http://schemas.microsoft.com/office/drawing/2014/main" id="{2CE53AA9-7750-F51E-D97F-F225D14AD1BA}"/>
              </a:ext>
            </a:extLst>
          </p:cNvPr>
          <p:cNvSpPr txBox="1"/>
          <p:nvPr/>
        </p:nvSpPr>
        <p:spPr>
          <a:xfrm>
            <a:off x="10611367" y="4204449"/>
            <a:ext cx="972583" cy="369332"/>
          </a:xfrm>
          <a:prstGeom prst="rect">
            <a:avLst/>
          </a:prstGeom>
          <a:noFill/>
        </p:spPr>
        <p:txBody>
          <a:bodyPr wrap="square" rtlCol="0">
            <a:spAutoFit/>
          </a:bodyPr>
          <a:lstStyle/>
          <a:p>
            <a:r>
              <a:rPr lang="en-US"/>
              <a:t>Org N</a:t>
            </a:r>
          </a:p>
        </p:txBody>
      </p:sp>
      <p:sp>
        <p:nvSpPr>
          <p:cNvPr id="28" name="TextBox 27">
            <a:extLst>
              <a:ext uri="{FF2B5EF4-FFF2-40B4-BE49-F238E27FC236}">
                <a16:creationId xmlns:a16="http://schemas.microsoft.com/office/drawing/2014/main" id="{74E0D697-1529-2D35-113C-764666917B6E}"/>
              </a:ext>
            </a:extLst>
          </p:cNvPr>
          <p:cNvSpPr txBox="1"/>
          <p:nvPr/>
        </p:nvSpPr>
        <p:spPr>
          <a:xfrm>
            <a:off x="11465691" y="4195766"/>
            <a:ext cx="972583" cy="369332"/>
          </a:xfrm>
          <a:prstGeom prst="rect">
            <a:avLst/>
          </a:prstGeom>
          <a:noFill/>
        </p:spPr>
        <p:txBody>
          <a:bodyPr wrap="square" rtlCol="0">
            <a:spAutoFit/>
          </a:bodyPr>
          <a:lstStyle/>
          <a:p>
            <a:r>
              <a:rPr lang="en-US"/>
              <a:t>Org C</a:t>
            </a:r>
          </a:p>
        </p:txBody>
      </p:sp>
      <p:sp>
        <p:nvSpPr>
          <p:cNvPr id="29" name="TextBox 28">
            <a:extLst>
              <a:ext uri="{FF2B5EF4-FFF2-40B4-BE49-F238E27FC236}">
                <a16:creationId xmlns:a16="http://schemas.microsoft.com/office/drawing/2014/main" id="{9A43ED24-DC79-4B66-997D-1CB0E58F6486}"/>
              </a:ext>
            </a:extLst>
          </p:cNvPr>
          <p:cNvSpPr txBox="1"/>
          <p:nvPr/>
        </p:nvSpPr>
        <p:spPr>
          <a:xfrm>
            <a:off x="6458182" y="3706799"/>
            <a:ext cx="2503754" cy="876760"/>
          </a:xfrm>
          <a:prstGeom prst="rect">
            <a:avLst/>
          </a:prstGeom>
          <a:noFill/>
          <a:ln w="12700">
            <a:solidFill>
              <a:schemeClr val="accent1"/>
            </a:solidFill>
          </a:ln>
        </p:spPr>
        <p:txBody>
          <a:bodyPr wrap="square" rtlCol="0">
            <a:spAutoFit/>
          </a:bodyPr>
          <a:lstStyle/>
          <a:p>
            <a:endParaRPr lang="en-US"/>
          </a:p>
        </p:txBody>
      </p:sp>
      <p:sp>
        <p:nvSpPr>
          <p:cNvPr id="30" name="TextBox 29">
            <a:extLst>
              <a:ext uri="{FF2B5EF4-FFF2-40B4-BE49-F238E27FC236}">
                <a16:creationId xmlns:a16="http://schemas.microsoft.com/office/drawing/2014/main" id="{081A53E7-3E01-6C9A-894B-20EB7739AC69}"/>
              </a:ext>
            </a:extLst>
          </p:cNvPr>
          <p:cNvSpPr txBox="1"/>
          <p:nvPr/>
        </p:nvSpPr>
        <p:spPr>
          <a:xfrm>
            <a:off x="6981913" y="3742422"/>
            <a:ext cx="2310615" cy="369332"/>
          </a:xfrm>
          <a:prstGeom prst="rect">
            <a:avLst/>
          </a:prstGeom>
          <a:noFill/>
        </p:spPr>
        <p:txBody>
          <a:bodyPr wrap="square" rtlCol="0">
            <a:spAutoFit/>
          </a:bodyPr>
          <a:lstStyle/>
          <a:p>
            <a:r>
              <a:rPr lang="en-US"/>
              <a:t>Inorganic nutrients</a:t>
            </a:r>
          </a:p>
        </p:txBody>
      </p:sp>
      <p:sp>
        <p:nvSpPr>
          <p:cNvPr id="31" name="TextBox 30">
            <a:extLst>
              <a:ext uri="{FF2B5EF4-FFF2-40B4-BE49-F238E27FC236}">
                <a16:creationId xmlns:a16="http://schemas.microsoft.com/office/drawing/2014/main" id="{0C7838BA-C478-E31B-3CD7-EEFAE9D102E4}"/>
              </a:ext>
            </a:extLst>
          </p:cNvPr>
          <p:cNvSpPr txBox="1"/>
          <p:nvPr/>
        </p:nvSpPr>
        <p:spPr>
          <a:xfrm>
            <a:off x="6464549" y="4238593"/>
            <a:ext cx="972583" cy="369332"/>
          </a:xfrm>
          <a:prstGeom prst="rect">
            <a:avLst/>
          </a:prstGeom>
          <a:noFill/>
        </p:spPr>
        <p:txBody>
          <a:bodyPr wrap="square" rtlCol="0">
            <a:spAutoFit/>
          </a:bodyPr>
          <a:lstStyle/>
          <a:p>
            <a:r>
              <a:rPr lang="en-US"/>
              <a:t>DIC</a:t>
            </a:r>
          </a:p>
        </p:txBody>
      </p:sp>
      <p:sp>
        <p:nvSpPr>
          <p:cNvPr id="32" name="TextBox 31">
            <a:extLst>
              <a:ext uri="{FF2B5EF4-FFF2-40B4-BE49-F238E27FC236}">
                <a16:creationId xmlns:a16="http://schemas.microsoft.com/office/drawing/2014/main" id="{8F41C566-CAC9-3C7B-0B1B-627F79A1F23C}"/>
              </a:ext>
            </a:extLst>
          </p:cNvPr>
          <p:cNvSpPr txBox="1"/>
          <p:nvPr/>
        </p:nvSpPr>
        <p:spPr>
          <a:xfrm>
            <a:off x="7075987" y="4252730"/>
            <a:ext cx="972583" cy="369332"/>
          </a:xfrm>
          <a:prstGeom prst="rect">
            <a:avLst/>
          </a:prstGeom>
          <a:noFill/>
        </p:spPr>
        <p:txBody>
          <a:bodyPr wrap="square" rtlCol="0">
            <a:spAutoFit/>
          </a:bodyPr>
          <a:lstStyle/>
          <a:p>
            <a:r>
              <a:rPr lang="en-US"/>
              <a:t>NH4</a:t>
            </a:r>
          </a:p>
        </p:txBody>
      </p:sp>
      <p:sp>
        <p:nvSpPr>
          <p:cNvPr id="33" name="TextBox 32">
            <a:extLst>
              <a:ext uri="{FF2B5EF4-FFF2-40B4-BE49-F238E27FC236}">
                <a16:creationId xmlns:a16="http://schemas.microsoft.com/office/drawing/2014/main" id="{92C93204-EA10-CBB4-2854-24ACA0E810C0}"/>
              </a:ext>
            </a:extLst>
          </p:cNvPr>
          <p:cNvSpPr txBox="1"/>
          <p:nvPr/>
        </p:nvSpPr>
        <p:spPr>
          <a:xfrm>
            <a:off x="7787435" y="4252845"/>
            <a:ext cx="779444" cy="369332"/>
          </a:xfrm>
          <a:prstGeom prst="rect">
            <a:avLst/>
          </a:prstGeom>
          <a:noFill/>
        </p:spPr>
        <p:txBody>
          <a:bodyPr wrap="square" rtlCol="0">
            <a:spAutoFit/>
          </a:bodyPr>
          <a:lstStyle/>
          <a:p>
            <a:r>
              <a:rPr lang="en-US"/>
              <a:t>NO3</a:t>
            </a:r>
          </a:p>
        </p:txBody>
      </p:sp>
      <p:sp>
        <p:nvSpPr>
          <p:cNvPr id="34" name="TextBox 33">
            <a:extLst>
              <a:ext uri="{FF2B5EF4-FFF2-40B4-BE49-F238E27FC236}">
                <a16:creationId xmlns:a16="http://schemas.microsoft.com/office/drawing/2014/main" id="{B6384265-C503-8402-EBE6-386CF59DC4BC}"/>
              </a:ext>
            </a:extLst>
          </p:cNvPr>
          <p:cNvSpPr txBox="1"/>
          <p:nvPr/>
        </p:nvSpPr>
        <p:spPr>
          <a:xfrm>
            <a:off x="8430373" y="4252730"/>
            <a:ext cx="972583" cy="369332"/>
          </a:xfrm>
          <a:prstGeom prst="rect">
            <a:avLst/>
          </a:prstGeom>
          <a:noFill/>
        </p:spPr>
        <p:txBody>
          <a:bodyPr wrap="square" rtlCol="0">
            <a:spAutoFit/>
          </a:bodyPr>
          <a:lstStyle/>
          <a:p>
            <a:r>
              <a:rPr lang="en-US"/>
              <a:t>DIP</a:t>
            </a:r>
          </a:p>
        </p:txBody>
      </p:sp>
      <p:cxnSp>
        <p:nvCxnSpPr>
          <p:cNvPr id="35" name="Straight Arrow Connector 34">
            <a:extLst>
              <a:ext uri="{FF2B5EF4-FFF2-40B4-BE49-F238E27FC236}">
                <a16:creationId xmlns:a16="http://schemas.microsoft.com/office/drawing/2014/main" id="{0FFCDF09-E36F-3A98-0B26-B510CE54BF43}"/>
              </a:ext>
            </a:extLst>
          </p:cNvPr>
          <p:cNvCxnSpPr>
            <a:cxnSpLocks/>
            <a:endCxn id="8" idx="1"/>
          </p:cNvCxnSpPr>
          <p:nvPr/>
        </p:nvCxnSpPr>
        <p:spPr>
          <a:xfrm flipV="1">
            <a:off x="7562278" y="3056995"/>
            <a:ext cx="755457" cy="6562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5F500B3A-90BD-0667-01C4-3B005B1886D2}"/>
              </a:ext>
            </a:extLst>
          </p:cNvPr>
          <p:cNvCxnSpPr>
            <a:cxnSpLocks/>
          </p:cNvCxnSpPr>
          <p:nvPr/>
        </p:nvCxnSpPr>
        <p:spPr>
          <a:xfrm flipH="1" flipV="1">
            <a:off x="8961936" y="4094208"/>
            <a:ext cx="661185" cy="1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6B7E34AA-F644-4234-C0D2-9F82C2FF87CA}"/>
              </a:ext>
            </a:extLst>
          </p:cNvPr>
          <p:cNvCxnSpPr>
            <a:cxnSpLocks/>
          </p:cNvCxnSpPr>
          <p:nvPr/>
        </p:nvCxnSpPr>
        <p:spPr>
          <a:xfrm flipV="1">
            <a:off x="6714952" y="3358055"/>
            <a:ext cx="0" cy="8377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F69C5FC7-8A3C-84DA-062A-5E791D85ED3F}"/>
              </a:ext>
            </a:extLst>
          </p:cNvPr>
          <p:cNvSpPr txBox="1"/>
          <p:nvPr/>
        </p:nvSpPr>
        <p:spPr>
          <a:xfrm>
            <a:off x="6517034" y="2673221"/>
            <a:ext cx="1475857" cy="646331"/>
          </a:xfrm>
          <a:prstGeom prst="rect">
            <a:avLst/>
          </a:prstGeom>
          <a:noFill/>
        </p:spPr>
        <p:txBody>
          <a:bodyPr wrap="square" rtlCol="0">
            <a:spAutoFit/>
          </a:bodyPr>
          <a:lstStyle/>
          <a:p>
            <a:r>
              <a:rPr lang="en-US"/>
              <a:t>Atmospheric CO2</a:t>
            </a:r>
          </a:p>
        </p:txBody>
      </p:sp>
      <p:sp>
        <p:nvSpPr>
          <p:cNvPr id="45" name="TextBox 44">
            <a:extLst>
              <a:ext uri="{FF2B5EF4-FFF2-40B4-BE49-F238E27FC236}">
                <a16:creationId xmlns:a16="http://schemas.microsoft.com/office/drawing/2014/main" id="{8B463466-C85B-EDD8-7404-6D53EB20ACAC}"/>
              </a:ext>
            </a:extLst>
          </p:cNvPr>
          <p:cNvSpPr txBox="1"/>
          <p:nvPr/>
        </p:nvSpPr>
        <p:spPr>
          <a:xfrm>
            <a:off x="903383" y="2089728"/>
            <a:ext cx="2178408" cy="646331"/>
          </a:xfrm>
          <a:prstGeom prst="rect">
            <a:avLst/>
          </a:prstGeom>
          <a:noFill/>
          <a:ln w="12700">
            <a:solidFill>
              <a:schemeClr val="accent1"/>
            </a:solidFill>
          </a:ln>
        </p:spPr>
        <p:txBody>
          <a:bodyPr wrap="square" rtlCol="0">
            <a:spAutoFit/>
          </a:bodyPr>
          <a:lstStyle/>
          <a:p>
            <a:r>
              <a:rPr lang="en-US"/>
              <a:t>A figure with many different plants</a:t>
            </a:r>
          </a:p>
        </p:txBody>
      </p:sp>
      <p:sp>
        <p:nvSpPr>
          <p:cNvPr id="46" name="TextBox 45">
            <a:extLst>
              <a:ext uri="{FF2B5EF4-FFF2-40B4-BE49-F238E27FC236}">
                <a16:creationId xmlns:a16="http://schemas.microsoft.com/office/drawing/2014/main" id="{1613F76B-21D1-57FB-F17C-6AC6D4DBA9D6}"/>
              </a:ext>
            </a:extLst>
          </p:cNvPr>
          <p:cNvSpPr txBox="1"/>
          <p:nvPr/>
        </p:nvSpPr>
        <p:spPr>
          <a:xfrm>
            <a:off x="3828766" y="2128603"/>
            <a:ext cx="2178408" cy="1200329"/>
          </a:xfrm>
          <a:prstGeom prst="rect">
            <a:avLst/>
          </a:prstGeom>
          <a:noFill/>
          <a:ln w="12700">
            <a:solidFill>
              <a:schemeClr val="accent1"/>
            </a:solidFill>
          </a:ln>
        </p:spPr>
        <p:txBody>
          <a:bodyPr wrap="square" rtlCol="0">
            <a:spAutoFit/>
          </a:bodyPr>
          <a:lstStyle/>
          <a:p>
            <a:r>
              <a:rPr lang="en-US"/>
              <a:t>A river with a dam</a:t>
            </a:r>
          </a:p>
          <a:p>
            <a:endParaRPr lang="en-US"/>
          </a:p>
          <a:p>
            <a:r>
              <a:rPr lang="en-US"/>
              <a:t>With riparian vegetation. </a:t>
            </a:r>
          </a:p>
        </p:txBody>
      </p:sp>
      <p:sp>
        <p:nvSpPr>
          <p:cNvPr id="47" name="TextBox 46">
            <a:extLst>
              <a:ext uri="{FF2B5EF4-FFF2-40B4-BE49-F238E27FC236}">
                <a16:creationId xmlns:a16="http://schemas.microsoft.com/office/drawing/2014/main" id="{51F6E5B6-6B76-97E4-3F3E-59A3D5E84559}"/>
              </a:ext>
            </a:extLst>
          </p:cNvPr>
          <p:cNvSpPr txBox="1"/>
          <p:nvPr/>
        </p:nvSpPr>
        <p:spPr>
          <a:xfrm>
            <a:off x="1042988" y="3429000"/>
            <a:ext cx="1728787" cy="646331"/>
          </a:xfrm>
          <a:prstGeom prst="rect">
            <a:avLst/>
          </a:prstGeom>
          <a:noFill/>
        </p:spPr>
        <p:txBody>
          <a:bodyPr wrap="square" rtlCol="0">
            <a:spAutoFit/>
          </a:bodyPr>
          <a:lstStyle/>
          <a:p>
            <a:r>
              <a:rPr lang="en-US"/>
              <a:t>List three topics</a:t>
            </a:r>
          </a:p>
        </p:txBody>
      </p:sp>
      <p:sp>
        <p:nvSpPr>
          <p:cNvPr id="48" name="TextBox 47">
            <a:extLst>
              <a:ext uri="{FF2B5EF4-FFF2-40B4-BE49-F238E27FC236}">
                <a16:creationId xmlns:a16="http://schemas.microsoft.com/office/drawing/2014/main" id="{65036C10-2E43-8155-ADA0-18AD25C60B70}"/>
              </a:ext>
            </a:extLst>
          </p:cNvPr>
          <p:cNvSpPr txBox="1"/>
          <p:nvPr/>
        </p:nvSpPr>
        <p:spPr>
          <a:xfrm>
            <a:off x="3761110" y="5011340"/>
            <a:ext cx="1786220" cy="923330"/>
          </a:xfrm>
          <a:prstGeom prst="rect">
            <a:avLst/>
          </a:prstGeom>
          <a:noFill/>
        </p:spPr>
        <p:txBody>
          <a:bodyPr wrap="square" rtlCol="0">
            <a:spAutoFit/>
          </a:bodyPr>
          <a:lstStyle/>
          <a:p>
            <a:r>
              <a:rPr lang="en-US"/>
              <a:t>Ecological effects of dam construction</a:t>
            </a:r>
          </a:p>
        </p:txBody>
      </p:sp>
      <p:sp>
        <p:nvSpPr>
          <p:cNvPr id="49" name="TextBox 48">
            <a:extLst>
              <a:ext uri="{FF2B5EF4-FFF2-40B4-BE49-F238E27FC236}">
                <a16:creationId xmlns:a16="http://schemas.microsoft.com/office/drawing/2014/main" id="{D9BBF18F-2A84-113D-B382-1B4A6C971723}"/>
              </a:ext>
            </a:extLst>
          </p:cNvPr>
          <p:cNvSpPr txBox="1"/>
          <p:nvPr/>
        </p:nvSpPr>
        <p:spPr>
          <a:xfrm>
            <a:off x="3751994" y="5934670"/>
            <a:ext cx="1786220" cy="923330"/>
          </a:xfrm>
          <a:prstGeom prst="rect">
            <a:avLst/>
          </a:prstGeom>
          <a:noFill/>
        </p:spPr>
        <p:txBody>
          <a:bodyPr wrap="square" rtlCol="0">
            <a:spAutoFit/>
          </a:bodyPr>
          <a:lstStyle/>
          <a:p>
            <a:r>
              <a:rPr lang="en-US"/>
              <a:t>Environmental flow for river restoration</a:t>
            </a:r>
          </a:p>
        </p:txBody>
      </p:sp>
      <p:sp>
        <p:nvSpPr>
          <p:cNvPr id="50" name="TextBox 49">
            <a:extLst>
              <a:ext uri="{FF2B5EF4-FFF2-40B4-BE49-F238E27FC236}">
                <a16:creationId xmlns:a16="http://schemas.microsoft.com/office/drawing/2014/main" id="{907CC030-18A5-1932-1768-3D76A5A5930E}"/>
              </a:ext>
            </a:extLst>
          </p:cNvPr>
          <p:cNvSpPr txBox="1"/>
          <p:nvPr/>
        </p:nvSpPr>
        <p:spPr>
          <a:xfrm>
            <a:off x="7693792" y="0"/>
            <a:ext cx="1222872" cy="646331"/>
          </a:xfrm>
          <a:prstGeom prst="rect">
            <a:avLst/>
          </a:prstGeom>
          <a:noFill/>
        </p:spPr>
        <p:txBody>
          <a:bodyPr wrap="square" rtlCol="0">
            <a:spAutoFit/>
          </a:bodyPr>
          <a:lstStyle/>
          <a:p>
            <a:r>
              <a:rPr lang="en-US" b="1"/>
              <a:t>之前小彭做的图</a:t>
            </a:r>
          </a:p>
        </p:txBody>
      </p:sp>
      <p:sp>
        <p:nvSpPr>
          <p:cNvPr id="51" name="TextBox 50">
            <a:extLst>
              <a:ext uri="{FF2B5EF4-FFF2-40B4-BE49-F238E27FC236}">
                <a16:creationId xmlns:a16="http://schemas.microsoft.com/office/drawing/2014/main" id="{3A2565BE-D310-BF69-11DF-CC0539C19B3A}"/>
              </a:ext>
            </a:extLst>
          </p:cNvPr>
          <p:cNvSpPr txBox="1"/>
          <p:nvPr/>
        </p:nvSpPr>
        <p:spPr>
          <a:xfrm>
            <a:off x="3761110" y="3509666"/>
            <a:ext cx="1786220" cy="646331"/>
          </a:xfrm>
          <a:prstGeom prst="rect">
            <a:avLst/>
          </a:prstGeom>
          <a:noFill/>
        </p:spPr>
        <p:txBody>
          <a:bodyPr wrap="square" rtlCol="0">
            <a:spAutoFit/>
          </a:bodyPr>
          <a:lstStyle/>
          <a:p>
            <a:r>
              <a:rPr lang="en-US"/>
              <a:t>Ecohydrology of Dammed rivers</a:t>
            </a:r>
          </a:p>
        </p:txBody>
      </p:sp>
      <p:sp>
        <p:nvSpPr>
          <p:cNvPr id="52" name="TextBox 51">
            <a:extLst>
              <a:ext uri="{FF2B5EF4-FFF2-40B4-BE49-F238E27FC236}">
                <a16:creationId xmlns:a16="http://schemas.microsoft.com/office/drawing/2014/main" id="{F13001F5-CBE4-FC0F-26BE-AE5F0489EA38}"/>
              </a:ext>
            </a:extLst>
          </p:cNvPr>
          <p:cNvSpPr txBox="1"/>
          <p:nvPr/>
        </p:nvSpPr>
        <p:spPr>
          <a:xfrm>
            <a:off x="3737529" y="4226510"/>
            <a:ext cx="2269645" cy="646331"/>
          </a:xfrm>
          <a:prstGeom prst="rect">
            <a:avLst/>
          </a:prstGeom>
          <a:noFill/>
        </p:spPr>
        <p:txBody>
          <a:bodyPr wrap="square" rtlCol="0">
            <a:spAutoFit/>
          </a:bodyPr>
          <a:lstStyle/>
          <a:p>
            <a:r>
              <a:rPr lang="en-US"/>
              <a:t>Riparian vegetation-flow interactions</a:t>
            </a:r>
          </a:p>
        </p:txBody>
      </p:sp>
      <p:sp>
        <p:nvSpPr>
          <p:cNvPr id="54" name="TextBox 53">
            <a:extLst>
              <a:ext uri="{FF2B5EF4-FFF2-40B4-BE49-F238E27FC236}">
                <a16:creationId xmlns:a16="http://schemas.microsoft.com/office/drawing/2014/main" id="{81131720-C715-0526-49F4-797212054549}"/>
              </a:ext>
            </a:extLst>
          </p:cNvPr>
          <p:cNvSpPr txBox="1"/>
          <p:nvPr/>
        </p:nvSpPr>
        <p:spPr>
          <a:xfrm>
            <a:off x="10266286" y="1090605"/>
            <a:ext cx="1925713" cy="646331"/>
          </a:xfrm>
          <a:prstGeom prst="rect">
            <a:avLst/>
          </a:prstGeom>
          <a:noFill/>
        </p:spPr>
        <p:txBody>
          <a:bodyPr wrap="square" rtlCol="0">
            <a:spAutoFit/>
          </a:bodyPr>
          <a:lstStyle/>
          <a:p>
            <a:r>
              <a:rPr lang="en-US"/>
              <a:t>Carbon-climate feedback</a:t>
            </a:r>
          </a:p>
        </p:txBody>
      </p:sp>
    </p:spTree>
    <p:extLst>
      <p:ext uri="{BB962C8B-B14F-4D97-AF65-F5344CB8AC3E}">
        <p14:creationId xmlns:p14="http://schemas.microsoft.com/office/powerpoint/2010/main" val="2363262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B81BD2-342F-08BE-678C-0400968C4602}"/>
              </a:ext>
            </a:extLst>
          </p:cNvPr>
          <p:cNvSpPr txBox="1"/>
          <p:nvPr/>
        </p:nvSpPr>
        <p:spPr>
          <a:xfrm>
            <a:off x="585788" y="557213"/>
            <a:ext cx="4186237" cy="369332"/>
          </a:xfrm>
          <a:prstGeom prst="rect">
            <a:avLst/>
          </a:prstGeom>
          <a:noFill/>
        </p:spPr>
        <p:txBody>
          <a:bodyPr wrap="square" rtlCol="0">
            <a:spAutoFit/>
          </a:bodyPr>
          <a:lstStyle/>
          <a:p>
            <a:r>
              <a:rPr lang="en-US"/>
              <a:t>Biodiversity</a:t>
            </a:r>
          </a:p>
        </p:txBody>
      </p:sp>
      <p:sp>
        <p:nvSpPr>
          <p:cNvPr id="3" name="TextBox 2">
            <a:extLst>
              <a:ext uri="{FF2B5EF4-FFF2-40B4-BE49-F238E27FC236}">
                <a16:creationId xmlns:a16="http://schemas.microsoft.com/office/drawing/2014/main" id="{3EF98F0B-E6BA-D28C-7287-A0221E98A76A}"/>
              </a:ext>
            </a:extLst>
          </p:cNvPr>
          <p:cNvSpPr txBox="1"/>
          <p:nvPr/>
        </p:nvSpPr>
        <p:spPr>
          <a:xfrm>
            <a:off x="866778" y="1584841"/>
            <a:ext cx="2471737" cy="923330"/>
          </a:xfrm>
          <a:prstGeom prst="rect">
            <a:avLst/>
          </a:prstGeom>
          <a:noFill/>
        </p:spPr>
        <p:txBody>
          <a:bodyPr wrap="square" rtlCol="0">
            <a:spAutoFit/>
          </a:bodyPr>
          <a:lstStyle/>
          <a:p>
            <a:r>
              <a:rPr lang="en-US"/>
              <a:t>Biodiversity-stability relationships under climate change</a:t>
            </a:r>
          </a:p>
        </p:txBody>
      </p:sp>
      <p:sp>
        <p:nvSpPr>
          <p:cNvPr id="4" name="TextBox 3">
            <a:extLst>
              <a:ext uri="{FF2B5EF4-FFF2-40B4-BE49-F238E27FC236}">
                <a16:creationId xmlns:a16="http://schemas.microsoft.com/office/drawing/2014/main" id="{FC0240E2-DB43-D8DD-1883-DA67F2BB10A5}"/>
              </a:ext>
            </a:extLst>
          </p:cNvPr>
          <p:cNvSpPr txBox="1"/>
          <p:nvPr/>
        </p:nvSpPr>
        <p:spPr>
          <a:xfrm>
            <a:off x="866777" y="3166467"/>
            <a:ext cx="2471737" cy="646331"/>
          </a:xfrm>
          <a:prstGeom prst="rect">
            <a:avLst/>
          </a:prstGeom>
          <a:noFill/>
        </p:spPr>
        <p:txBody>
          <a:bodyPr wrap="square" rtlCol="0">
            <a:spAutoFit/>
          </a:bodyPr>
          <a:lstStyle/>
          <a:p>
            <a:r>
              <a:rPr lang="en-US"/>
              <a:t>Plant range shifts and diversity distribution </a:t>
            </a:r>
          </a:p>
        </p:txBody>
      </p:sp>
      <p:sp>
        <p:nvSpPr>
          <p:cNvPr id="5" name="TextBox 4">
            <a:extLst>
              <a:ext uri="{FF2B5EF4-FFF2-40B4-BE49-F238E27FC236}">
                <a16:creationId xmlns:a16="http://schemas.microsoft.com/office/drawing/2014/main" id="{AF1259C6-5004-A12A-49EA-74DB124B623A}"/>
              </a:ext>
            </a:extLst>
          </p:cNvPr>
          <p:cNvSpPr txBox="1"/>
          <p:nvPr/>
        </p:nvSpPr>
        <p:spPr>
          <a:xfrm>
            <a:off x="866776" y="4748093"/>
            <a:ext cx="2471737" cy="646331"/>
          </a:xfrm>
          <a:prstGeom prst="rect">
            <a:avLst/>
          </a:prstGeom>
          <a:noFill/>
        </p:spPr>
        <p:txBody>
          <a:bodyPr wrap="square" rtlCol="0">
            <a:spAutoFit/>
          </a:bodyPr>
          <a:lstStyle/>
          <a:p>
            <a:r>
              <a:rPr lang="en-US"/>
              <a:t>Terrestrial support of aquatic food webs</a:t>
            </a:r>
          </a:p>
        </p:txBody>
      </p:sp>
      <p:sp>
        <p:nvSpPr>
          <p:cNvPr id="6" name="TextBox 5">
            <a:extLst>
              <a:ext uri="{FF2B5EF4-FFF2-40B4-BE49-F238E27FC236}">
                <a16:creationId xmlns:a16="http://schemas.microsoft.com/office/drawing/2014/main" id="{07AB659B-6E07-A2C4-D2C4-E8B37EE954F8}"/>
              </a:ext>
            </a:extLst>
          </p:cNvPr>
          <p:cNvSpPr txBox="1"/>
          <p:nvPr/>
        </p:nvSpPr>
        <p:spPr>
          <a:xfrm>
            <a:off x="5783171" y="-71171"/>
            <a:ext cx="6513462" cy="3693319"/>
          </a:xfrm>
          <a:prstGeom prst="rect">
            <a:avLst/>
          </a:prstGeom>
          <a:noFill/>
        </p:spPr>
        <p:txBody>
          <a:bodyPr wrap="square" rtlCol="0">
            <a:spAutoFit/>
          </a:bodyPr>
          <a:lstStyle/>
          <a:p>
            <a:r>
              <a:rPr lang="en-US"/>
              <a:t>Terrestrial and aquatic ecosystems are interconnected. Terrestrial detritus (t-OM) supports aquatic food webs through consumers that forage on detritus. Our study evaluates the importance of a second terrestrial carbon pathway in which algae assimilate a substantial amount of dissolved inorganic carbon (DIC) released from the mineralization and methanogenesis of t-OM, supporting biodiverse wetlands. </a:t>
            </a:r>
          </a:p>
          <a:p>
            <a:endParaRPr lang="en-US"/>
          </a:p>
          <a:p>
            <a:r>
              <a:rPr lang="en-US"/>
              <a:t>Despite this, most CO</a:t>
            </a:r>
            <a:r>
              <a:rPr lang="en-US" baseline="-25000"/>
              <a:t>2</a:t>
            </a:r>
            <a:r>
              <a:rPr lang="en-US"/>
              <a:t> and CH</a:t>
            </a:r>
            <a:r>
              <a:rPr lang="en-US" baseline="-25000"/>
              <a:t>4</a:t>
            </a:r>
            <a:r>
              <a:rPr lang="en-US"/>
              <a:t> from t-OM decomposition are emitted to the atmosphere, suggesting the dual roles of t-OM in simultaneously supporting aquatic food webs and contributing to carbon emissions. </a:t>
            </a:r>
          </a:p>
          <a:p>
            <a:endParaRPr lang="en-US"/>
          </a:p>
        </p:txBody>
      </p:sp>
      <p:sp>
        <p:nvSpPr>
          <p:cNvPr id="7" name="TextBox 6">
            <a:extLst>
              <a:ext uri="{FF2B5EF4-FFF2-40B4-BE49-F238E27FC236}">
                <a16:creationId xmlns:a16="http://schemas.microsoft.com/office/drawing/2014/main" id="{922938C2-10BA-DF00-92D3-054896DCBC00}"/>
              </a:ext>
            </a:extLst>
          </p:cNvPr>
          <p:cNvSpPr txBox="1"/>
          <p:nvPr/>
        </p:nvSpPr>
        <p:spPr>
          <a:xfrm>
            <a:off x="3661031" y="2782669"/>
            <a:ext cx="2005011" cy="646331"/>
          </a:xfrm>
          <a:prstGeom prst="rect">
            <a:avLst/>
          </a:prstGeom>
          <a:noFill/>
        </p:spPr>
        <p:txBody>
          <a:bodyPr wrap="square" rtlCol="0">
            <a:spAutoFit/>
          </a:bodyPr>
          <a:lstStyle/>
          <a:p>
            <a:r>
              <a:rPr lang="en-US">
                <a:highlight>
                  <a:srgbClr val="FFFF00"/>
                </a:highlight>
              </a:rPr>
              <a:t>Figure from science paper</a:t>
            </a:r>
          </a:p>
        </p:txBody>
      </p:sp>
      <p:sp>
        <p:nvSpPr>
          <p:cNvPr id="8" name="TextBox 7">
            <a:extLst>
              <a:ext uri="{FF2B5EF4-FFF2-40B4-BE49-F238E27FC236}">
                <a16:creationId xmlns:a16="http://schemas.microsoft.com/office/drawing/2014/main" id="{55525742-0A2E-07A7-2388-D2A565384175}"/>
              </a:ext>
            </a:extLst>
          </p:cNvPr>
          <p:cNvSpPr txBox="1"/>
          <p:nvPr/>
        </p:nvSpPr>
        <p:spPr>
          <a:xfrm>
            <a:off x="3549112" y="1036825"/>
            <a:ext cx="2546888" cy="1200329"/>
          </a:xfrm>
          <a:prstGeom prst="rect">
            <a:avLst/>
          </a:prstGeom>
          <a:noFill/>
        </p:spPr>
        <p:txBody>
          <a:bodyPr wrap="square" rtlCol="0">
            <a:spAutoFit/>
          </a:bodyPr>
          <a:lstStyle/>
          <a:p>
            <a:r>
              <a:rPr lang="en-US"/>
              <a:t>Introduction of the study;</a:t>
            </a:r>
          </a:p>
          <a:p>
            <a:endParaRPr lang="en-US"/>
          </a:p>
          <a:p>
            <a:r>
              <a:rPr lang="en-US"/>
              <a:t>References</a:t>
            </a:r>
          </a:p>
        </p:txBody>
      </p:sp>
      <p:pic>
        <p:nvPicPr>
          <p:cNvPr id="9" name="Picture 8" descr="A picture containing grass, sky, outdoor, water&#10;&#10;Description automatically generated">
            <a:extLst>
              <a:ext uri="{FF2B5EF4-FFF2-40B4-BE49-F238E27FC236}">
                <a16:creationId xmlns:a16="http://schemas.microsoft.com/office/drawing/2014/main" id="{F5321F7C-5048-3106-C8AD-2DF8CD11657C}"/>
              </a:ext>
            </a:extLst>
          </p:cNvPr>
          <p:cNvPicPr/>
          <p:nvPr/>
        </p:nvPicPr>
        <p:blipFill rotWithShape="1">
          <a:blip r:embed="rId3" cstate="print">
            <a:extLst>
              <a:ext uri="{28A0092B-C50C-407E-A947-70E740481C1C}">
                <a14:useLocalDpi xmlns:a14="http://schemas.microsoft.com/office/drawing/2010/main" val="0"/>
              </a:ext>
            </a:extLst>
          </a:blip>
          <a:srcRect t="20886"/>
          <a:stretch/>
        </p:blipFill>
        <p:spPr bwMode="auto">
          <a:xfrm>
            <a:off x="3275371" y="3812798"/>
            <a:ext cx="3335764" cy="2699643"/>
          </a:xfrm>
          <a:prstGeom prst="rect">
            <a:avLst/>
          </a:prstGeom>
          <a:noFill/>
          <a:ln>
            <a:noFill/>
          </a:ln>
          <a:extLst>
            <a:ext uri="{53640926-AAD7-44D8-BBD7-CCE9431645EC}">
              <a14:shadowObscured xmlns:a14="http://schemas.microsoft.com/office/drawing/2010/main"/>
            </a:ext>
          </a:extLst>
        </p:spPr>
      </p:pic>
      <p:sp>
        <p:nvSpPr>
          <p:cNvPr id="10" name="TextBox 9">
            <a:extLst>
              <a:ext uri="{FF2B5EF4-FFF2-40B4-BE49-F238E27FC236}">
                <a16:creationId xmlns:a16="http://schemas.microsoft.com/office/drawing/2014/main" id="{24172C1B-C5FA-BE05-EB49-156B1D40B29C}"/>
              </a:ext>
            </a:extLst>
          </p:cNvPr>
          <p:cNvSpPr txBox="1"/>
          <p:nvPr/>
        </p:nvSpPr>
        <p:spPr>
          <a:xfrm>
            <a:off x="3404573" y="6512441"/>
            <a:ext cx="3848680" cy="400110"/>
          </a:xfrm>
          <a:prstGeom prst="rect">
            <a:avLst/>
          </a:prstGeom>
          <a:noFill/>
        </p:spPr>
        <p:txBody>
          <a:bodyPr wrap="square" rtlCol="0">
            <a:spAutoFit/>
          </a:bodyPr>
          <a:lstStyle>
            <a:defPPr>
              <a:defRPr lang="en-US"/>
            </a:defPPr>
            <a:lvl1pPr>
              <a:defRPr sz="2000">
                <a:latin typeface="Angsana New" panose="02020603050405020304" pitchFamily="18" charset="-34"/>
                <a:cs typeface="Angsana New" panose="02020603050405020304" pitchFamily="18" charset="-34"/>
              </a:defRPr>
            </a:lvl1pPr>
          </a:lstStyle>
          <a:p>
            <a:r>
              <a:rPr lang="en-US" dirty="0"/>
              <a:t>Seasonal wetlands in Yolo Bypass Wildlife Area (CA)</a:t>
            </a:r>
          </a:p>
        </p:txBody>
      </p:sp>
      <p:pic>
        <p:nvPicPr>
          <p:cNvPr id="12" name="Picture 11">
            <a:extLst>
              <a:ext uri="{FF2B5EF4-FFF2-40B4-BE49-F238E27FC236}">
                <a16:creationId xmlns:a16="http://schemas.microsoft.com/office/drawing/2014/main" id="{1E9829E4-845D-50B8-9A6F-FCD8F93EFCD4}"/>
              </a:ext>
            </a:extLst>
          </p:cNvPr>
          <p:cNvPicPr>
            <a:picLocks noChangeAspect="1"/>
          </p:cNvPicPr>
          <p:nvPr/>
        </p:nvPicPr>
        <p:blipFill>
          <a:blip r:embed="rId4"/>
          <a:stretch>
            <a:fillRect/>
          </a:stretch>
        </p:blipFill>
        <p:spPr>
          <a:xfrm>
            <a:off x="7357425" y="3166467"/>
            <a:ext cx="4635772" cy="3255585"/>
          </a:xfrm>
          <a:prstGeom prst="rect">
            <a:avLst/>
          </a:prstGeom>
        </p:spPr>
      </p:pic>
    </p:spTree>
    <p:extLst>
      <p:ext uri="{BB962C8B-B14F-4D97-AF65-F5344CB8AC3E}">
        <p14:creationId xmlns:p14="http://schemas.microsoft.com/office/powerpoint/2010/main" val="3883059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8F285C-A78A-3897-CFF9-2CDA5C1A301A}"/>
              </a:ext>
            </a:extLst>
          </p:cNvPr>
          <p:cNvSpPr txBox="1"/>
          <p:nvPr/>
        </p:nvSpPr>
        <p:spPr>
          <a:xfrm>
            <a:off x="564347" y="393181"/>
            <a:ext cx="1925713" cy="646331"/>
          </a:xfrm>
          <a:prstGeom prst="rect">
            <a:avLst/>
          </a:prstGeom>
          <a:noFill/>
        </p:spPr>
        <p:txBody>
          <a:bodyPr wrap="square" rtlCol="0">
            <a:spAutoFit/>
          </a:bodyPr>
          <a:lstStyle/>
          <a:p>
            <a:r>
              <a:rPr lang="en-US"/>
              <a:t>Carbon-climate feedback</a:t>
            </a:r>
          </a:p>
        </p:txBody>
      </p:sp>
    </p:spTree>
    <p:extLst>
      <p:ext uri="{BB962C8B-B14F-4D97-AF65-F5344CB8AC3E}">
        <p14:creationId xmlns:p14="http://schemas.microsoft.com/office/powerpoint/2010/main" val="1290141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ause and effect relationships for negative and positive carbon–climate feedbacks.">
            <a:extLst>
              <a:ext uri="{FF2B5EF4-FFF2-40B4-BE49-F238E27FC236}">
                <a16:creationId xmlns:a16="http://schemas.microsoft.com/office/drawing/2014/main" id="{D29B7E53-0929-F1A7-4AC2-E7F6DB460BD0}"/>
              </a:ext>
            </a:extLst>
          </p:cNvPr>
          <p:cNvPicPr>
            <a:picLocks noChangeAspect="1"/>
          </p:cNvPicPr>
          <p:nvPr/>
        </p:nvPicPr>
        <p:blipFill>
          <a:blip r:embed="rId2"/>
          <a:stretch>
            <a:fillRect/>
          </a:stretch>
        </p:blipFill>
        <p:spPr>
          <a:xfrm>
            <a:off x="1131887" y="1317625"/>
            <a:ext cx="5080000" cy="3479800"/>
          </a:xfrm>
          <a:prstGeom prst="rect">
            <a:avLst/>
          </a:prstGeom>
        </p:spPr>
      </p:pic>
      <p:sp>
        <p:nvSpPr>
          <p:cNvPr id="4" name="TextBox 3">
            <a:extLst>
              <a:ext uri="{FF2B5EF4-FFF2-40B4-BE49-F238E27FC236}">
                <a16:creationId xmlns:a16="http://schemas.microsoft.com/office/drawing/2014/main" id="{9569A8F6-F27B-99F0-953F-BBD65253CB1B}"/>
              </a:ext>
            </a:extLst>
          </p:cNvPr>
          <p:cNvSpPr txBox="1"/>
          <p:nvPr/>
        </p:nvSpPr>
        <p:spPr>
          <a:xfrm>
            <a:off x="292893" y="5171043"/>
            <a:ext cx="7908132" cy="369332"/>
          </a:xfrm>
          <a:prstGeom prst="rect">
            <a:avLst/>
          </a:prstGeom>
          <a:noFill/>
        </p:spPr>
        <p:txBody>
          <a:bodyPr wrap="square">
            <a:spAutoFit/>
          </a:bodyPr>
          <a:lstStyle/>
          <a:p>
            <a:r>
              <a:rPr lang="en-US"/>
              <a:t>https://eos.org/features/the-future-of-the-carbon-cycle-in-a-changing-climate</a:t>
            </a:r>
          </a:p>
        </p:txBody>
      </p:sp>
      <p:sp>
        <p:nvSpPr>
          <p:cNvPr id="6" name="TextBox 5">
            <a:extLst>
              <a:ext uri="{FF2B5EF4-FFF2-40B4-BE49-F238E27FC236}">
                <a16:creationId xmlns:a16="http://schemas.microsoft.com/office/drawing/2014/main" id="{45C220F8-2E98-6839-7DBF-7B00C6675494}"/>
              </a:ext>
            </a:extLst>
          </p:cNvPr>
          <p:cNvSpPr txBox="1"/>
          <p:nvPr/>
        </p:nvSpPr>
        <p:spPr>
          <a:xfrm>
            <a:off x="292893" y="413584"/>
            <a:ext cx="3793332" cy="369332"/>
          </a:xfrm>
          <a:prstGeom prst="rect">
            <a:avLst/>
          </a:prstGeom>
          <a:noFill/>
        </p:spPr>
        <p:txBody>
          <a:bodyPr wrap="square">
            <a:spAutoFit/>
          </a:bodyPr>
          <a:lstStyle/>
          <a:p>
            <a:r>
              <a:rPr lang="en-US" sz="1800" b="1"/>
              <a:t>Carbon-climate feedback</a:t>
            </a:r>
          </a:p>
        </p:txBody>
      </p:sp>
      <p:sp>
        <p:nvSpPr>
          <p:cNvPr id="7" name="TextBox 6">
            <a:extLst>
              <a:ext uri="{FF2B5EF4-FFF2-40B4-BE49-F238E27FC236}">
                <a16:creationId xmlns:a16="http://schemas.microsoft.com/office/drawing/2014/main" id="{B27896DF-8FE3-2A2B-95A5-BF7250A9FDC2}"/>
              </a:ext>
            </a:extLst>
          </p:cNvPr>
          <p:cNvSpPr txBox="1"/>
          <p:nvPr/>
        </p:nvSpPr>
        <p:spPr>
          <a:xfrm>
            <a:off x="8112919" y="4903480"/>
            <a:ext cx="3786188" cy="1754326"/>
          </a:xfrm>
          <a:prstGeom prst="rect">
            <a:avLst/>
          </a:prstGeom>
          <a:noFill/>
        </p:spPr>
        <p:txBody>
          <a:bodyPr wrap="square" rtlCol="0">
            <a:spAutoFit/>
          </a:bodyPr>
          <a:lstStyle/>
          <a:p>
            <a:r>
              <a:rPr lang="en-US"/>
              <a:t>How organisms adjust their respiration rate under warming?</a:t>
            </a:r>
          </a:p>
          <a:p>
            <a:endParaRPr lang="en-US"/>
          </a:p>
          <a:p>
            <a:r>
              <a:rPr lang="en-US"/>
              <a:t>The relative important of abotic factors such as warming-induced water limitation affect respirations?</a:t>
            </a:r>
          </a:p>
        </p:txBody>
      </p:sp>
      <p:sp>
        <p:nvSpPr>
          <p:cNvPr id="3" name="TextBox 2">
            <a:extLst>
              <a:ext uri="{FF2B5EF4-FFF2-40B4-BE49-F238E27FC236}">
                <a16:creationId xmlns:a16="http://schemas.microsoft.com/office/drawing/2014/main" id="{F2941390-F832-6C3A-70B0-5C9D64E81CA7}"/>
              </a:ext>
            </a:extLst>
          </p:cNvPr>
          <p:cNvSpPr txBox="1"/>
          <p:nvPr/>
        </p:nvSpPr>
        <p:spPr>
          <a:xfrm>
            <a:off x="1296537" y="6005015"/>
            <a:ext cx="3234520" cy="369332"/>
          </a:xfrm>
          <a:prstGeom prst="rect">
            <a:avLst/>
          </a:prstGeom>
          <a:noFill/>
        </p:spPr>
        <p:txBody>
          <a:bodyPr wrap="square" rtlCol="0">
            <a:spAutoFit/>
          </a:bodyPr>
          <a:lstStyle/>
          <a:p>
            <a:r>
              <a:rPr lang="en-US"/>
              <a:t>Manuscript is under review (</a:t>
            </a:r>
            <a:r>
              <a:rPr lang="en-US">
                <a:sym typeface="Wingdings" pitchFamily="2" charset="2"/>
              </a:rPr>
              <a:t></a:t>
            </a:r>
            <a:r>
              <a:rPr lang="en-US"/>
              <a:t>)</a:t>
            </a:r>
          </a:p>
        </p:txBody>
      </p:sp>
      <p:sp>
        <p:nvSpPr>
          <p:cNvPr id="5" name="TextBox 4">
            <a:extLst>
              <a:ext uri="{FF2B5EF4-FFF2-40B4-BE49-F238E27FC236}">
                <a16:creationId xmlns:a16="http://schemas.microsoft.com/office/drawing/2014/main" id="{D0A3980B-C069-D867-C774-A0BE48244865}"/>
              </a:ext>
            </a:extLst>
          </p:cNvPr>
          <p:cNvSpPr txBox="1"/>
          <p:nvPr/>
        </p:nvSpPr>
        <p:spPr>
          <a:xfrm>
            <a:off x="7142922" y="192356"/>
            <a:ext cx="4611757" cy="4524315"/>
          </a:xfrm>
          <a:prstGeom prst="rect">
            <a:avLst/>
          </a:prstGeom>
          <a:noFill/>
        </p:spPr>
        <p:txBody>
          <a:bodyPr wrap="square" rtlCol="0">
            <a:spAutoFit/>
          </a:bodyPr>
          <a:lstStyle/>
          <a:p>
            <a:r>
              <a:rPr lang="en-US"/>
              <a:t>Terrestrial carbon–climate feedbacks can be either positive, amplifying climate change, or negative, dampening it, with their balance varying across ecosystems and over time.</a:t>
            </a:r>
          </a:p>
          <a:p>
            <a:r>
              <a:rPr lang="en-US"/>
              <a:t>Using global eddy-covariance observations over the past 2-3 decades, I ask:</a:t>
            </a:r>
          </a:p>
          <a:p>
            <a:endParaRPr lang="en-US"/>
          </a:p>
          <a:p>
            <a:pPr marL="342900" indent="-342900">
              <a:buAutoNum type="arabicParenR"/>
            </a:pPr>
            <a:r>
              <a:rPr lang="en-US"/>
              <a:t>Where and when are terrestrial carbon–climate feedbacks dominated by positive versus negative feedbacks across climates and biomes?</a:t>
            </a:r>
          </a:p>
          <a:p>
            <a:pPr marL="342900" indent="-342900">
              <a:buAutoNum type="arabicParenR"/>
            </a:pPr>
            <a:endParaRPr lang="en-US"/>
          </a:p>
          <a:p>
            <a:pPr marL="342900" indent="-342900">
              <a:buAutoNum type="arabicParenR"/>
            </a:pPr>
            <a:r>
              <a:rPr lang="en-US"/>
              <a:t>What mechanisms could shift the terrestrial biosphere from predominantly negative toward positive carbon–climate feedback in the future?</a:t>
            </a:r>
          </a:p>
        </p:txBody>
      </p:sp>
    </p:spTree>
    <p:extLst>
      <p:ext uri="{BB962C8B-B14F-4D97-AF65-F5344CB8AC3E}">
        <p14:creationId xmlns:p14="http://schemas.microsoft.com/office/powerpoint/2010/main" val="2003870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F3DA04-CC80-8DB5-8078-C04E0B5E6494}"/>
              </a:ext>
            </a:extLst>
          </p:cNvPr>
          <p:cNvPicPr>
            <a:picLocks noChangeAspect="1"/>
          </p:cNvPicPr>
          <p:nvPr/>
        </p:nvPicPr>
        <p:blipFill>
          <a:blip r:embed="rId3"/>
          <a:stretch>
            <a:fillRect/>
          </a:stretch>
        </p:blipFill>
        <p:spPr>
          <a:xfrm>
            <a:off x="540249" y="1537786"/>
            <a:ext cx="6138057" cy="3419038"/>
          </a:xfrm>
          <a:prstGeom prst="rect">
            <a:avLst/>
          </a:prstGeom>
        </p:spPr>
      </p:pic>
      <p:sp>
        <p:nvSpPr>
          <p:cNvPr id="6" name="TextBox 5">
            <a:extLst>
              <a:ext uri="{FF2B5EF4-FFF2-40B4-BE49-F238E27FC236}">
                <a16:creationId xmlns:a16="http://schemas.microsoft.com/office/drawing/2014/main" id="{14F123FF-406E-A8A7-F0DB-FD54FC818951}"/>
              </a:ext>
            </a:extLst>
          </p:cNvPr>
          <p:cNvSpPr txBox="1"/>
          <p:nvPr/>
        </p:nvSpPr>
        <p:spPr>
          <a:xfrm>
            <a:off x="7248938" y="416226"/>
            <a:ext cx="4943062" cy="5632311"/>
          </a:xfrm>
          <a:prstGeom prst="rect">
            <a:avLst/>
          </a:prstGeom>
          <a:noFill/>
        </p:spPr>
        <p:txBody>
          <a:bodyPr wrap="square" rtlCol="0">
            <a:spAutoFit/>
          </a:bodyPr>
          <a:lstStyle/>
          <a:p>
            <a:r>
              <a:rPr lang="en-US" sz="2000"/>
              <a:t>Building on my work to identify where and when terrestrial carbon–climate feedbacks are positive or negative, I investigate the mechanisms that determine whether positive feedbacks strengthen or weaken under continued climate change. In particular, I ask:</a:t>
            </a:r>
          </a:p>
          <a:p>
            <a:endParaRPr lang="en-US" sz="2000"/>
          </a:p>
          <a:p>
            <a:pPr marL="342900" lvl="0" indent="-342900">
              <a:buFont typeface="Arial" panose="020B0604020202020204" pitchFamily="34" charset="0"/>
              <a:buChar char="•"/>
            </a:pPr>
            <a:r>
              <a:rPr lang="en-US" sz="2000" b="1"/>
              <a:t>How will acclimation and adaptation of organisms, including plants and microbes, dampen or amplify positive carbon–climate feedback?</a:t>
            </a:r>
          </a:p>
          <a:p>
            <a:pPr lvl="0"/>
            <a:endParaRPr lang="en-US" sz="2000"/>
          </a:p>
          <a:p>
            <a:pPr marL="342900" lvl="0" indent="-342900">
              <a:buFont typeface="Arial" panose="020B0604020202020204" pitchFamily="34" charset="0"/>
              <a:buChar char="•"/>
            </a:pPr>
            <a:r>
              <a:rPr lang="en-US" sz="2000" b="1"/>
              <a:t>How do abiotic and indirect processes, such as warming-induced water limitation and changes in substrate availability, regulate the strength of this feedback?</a:t>
            </a:r>
            <a:endParaRPr lang="en-US" sz="2000"/>
          </a:p>
        </p:txBody>
      </p:sp>
      <p:sp>
        <p:nvSpPr>
          <p:cNvPr id="2" name="TextBox 1">
            <a:extLst>
              <a:ext uri="{FF2B5EF4-FFF2-40B4-BE49-F238E27FC236}">
                <a16:creationId xmlns:a16="http://schemas.microsoft.com/office/drawing/2014/main" id="{50F92015-B2C4-6262-9A2F-49579371D5B3}"/>
              </a:ext>
            </a:extLst>
          </p:cNvPr>
          <p:cNvSpPr txBox="1"/>
          <p:nvPr/>
        </p:nvSpPr>
        <p:spPr>
          <a:xfrm>
            <a:off x="381222" y="5817705"/>
            <a:ext cx="2216203" cy="646331"/>
          </a:xfrm>
          <a:prstGeom prst="rect">
            <a:avLst/>
          </a:prstGeom>
          <a:noFill/>
        </p:spPr>
        <p:txBody>
          <a:bodyPr wrap="square" rtlCol="0">
            <a:spAutoFit/>
          </a:bodyPr>
          <a:lstStyle/>
          <a:p>
            <a:r>
              <a:rPr lang="en-US"/>
              <a:t>Thermal acclimation of plant respiration</a:t>
            </a:r>
          </a:p>
        </p:txBody>
      </p:sp>
      <p:sp>
        <p:nvSpPr>
          <p:cNvPr id="3" name="TextBox 2">
            <a:extLst>
              <a:ext uri="{FF2B5EF4-FFF2-40B4-BE49-F238E27FC236}">
                <a16:creationId xmlns:a16="http://schemas.microsoft.com/office/drawing/2014/main" id="{BF6C4C60-5745-D901-6E59-62F4FCBE6F16}"/>
              </a:ext>
            </a:extLst>
          </p:cNvPr>
          <p:cNvSpPr txBox="1"/>
          <p:nvPr/>
        </p:nvSpPr>
        <p:spPr>
          <a:xfrm>
            <a:off x="3064788" y="5817705"/>
            <a:ext cx="2607142" cy="646331"/>
          </a:xfrm>
          <a:prstGeom prst="rect">
            <a:avLst/>
          </a:prstGeom>
          <a:noFill/>
        </p:spPr>
        <p:txBody>
          <a:bodyPr wrap="square" rtlCol="0">
            <a:spAutoFit/>
          </a:bodyPr>
          <a:lstStyle/>
          <a:p>
            <a:r>
              <a:rPr lang="en-US"/>
              <a:t>Thermal adaptation of microbial respiration</a:t>
            </a:r>
          </a:p>
        </p:txBody>
      </p:sp>
      <p:sp>
        <p:nvSpPr>
          <p:cNvPr id="4" name="TextBox 3">
            <a:extLst>
              <a:ext uri="{FF2B5EF4-FFF2-40B4-BE49-F238E27FC236}">
                <a16:creationId xmlns:a16="http://schemas.microsoft.com/office/drawing/2014/main" id="{77B33F1B-7C00-5263-C70A-EEBAC97F5C9D}"/>
              </a:ext>
            </a:extLst>
          </p:cNvPr>
          <p:cNvSpPr txBox="1"/>
          <p:nvPr/>
        </p:nvSpPr>
        <p:spPr>
          <a:xfrm>
            <a:off x="4792429" y="4870037"/>
            <a:ext cx="1754145" cy="369332"/>
          </a:xfrm>
          <a:prstGeom prst="rect">
            <a:avLst/>
          </a:prstGeom>
          <a:noFill/>
        </p:spPr>
        <p:txBody>
          <a:bodyPr wrap="square" rtlCol="0">
            <a:spAutoFit/>
          </a:bodyPr>
          <a:lstStyle/>
          <a:p>
            <a:r>
              <a:rPr lang="en-US"/>
              <a:t>Water limitation</a:t>
            </a:r>
          </a:p>
        </p:txBody>
      </p:sp>
      <p:sp>
        <p:nvSpPr>
          <p:cNvPr id="7" name="TextBox 6">
            <a:extLst>
              <a:ext uri="{FF2B5EF4-FFF2-40B4-BE49-F238E27FC236}">
                <a16:creationId xmlns:a16="http://schemas.microsoft.com/office/drawing/2014/main" id="{B4D45131-8F57-3C0F-5383-D5DBBE8E8979}"/>
              </a:ext>
            </a:extLst>
          </p:cNvPr>
          <p:cNvSpPr txBox="1"/>
          <p:nvPr/>
        </p:nvSpPr>
        <p:spPr>
          <a:xfrm>
            <a:off x="5669501" y="6279370"/>
            <a:ext cx="2216203" cy="369332"/>
          </a:xfrm>
          <a:prstGeom prst="rect">
            <a:avLst/>
          </a:prstGeom>
          <a:noFill/>
        </p:spPr>
        <p:txBody>
          <a:bodyPr wrap="square" rtlCol="0">
            <a:spAutoFit/>
          </a:bodyPr>
          <a:lstStyle/>
          <a:p>
            <a:r>
              <a:rPr lang="en-US"/>
              <a:t>Substrate change</a:t>
            </a:r>
          </a:p>
        </p:txBody>
      </p:sp>
    </p:spTree>
    <p:extLst>
      <p:ext uri="{BB962C8B-B14F-4D97-AF65-F5344CB8AC3E}">
        <p14:creationId xmlns:p14="http://schemas.microsoft.com/office/powerpoint/2010/main" val="1357355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391523-2237-943B-1CB4-11C6A7ED1A06}"/>
              </a:ext>
            </a:extLst>
          </p:cNvPr>
          <p:cNvPicPr>
            <a:picLocks noChangeAspect="1"/>
          </p:cNvPicPr>
          <p:nvPr/>
        </p:nvPicPr>
        <p:blipFill>
          <a:blip r:embed="rId3"/>
          <a:srcRect r="51108"/>
          <a:stretch>
            <a:fillRect/>
          </a:stretch>
        </p:blipFill>
        <p:spPr>
          <a:xfrm>
            <a:off x="3906078" y="3525450"/>
            <a:ext cx="3800062" cy="3332549"/>
          </a:xfrm>
          <a:prstGeom prst="rect">
            <a:avLst/>
          </a:prstGeom>
        </p:spPr>
      </p:pic>
      <p:pic>
        <p:nvPicPr>
          <p:cNvPr id="3" name="Picture 2">
            <a:extLst>
              <a:ext uri="{FF2B5EF4-FFF2-40B4-BE49-F238E27FC236}">
                <a16:creationId xmlns:a16="http://schemas.microsoft.com/office/drawing/2014/main" id="{7644AC12-955F-8707-F996-751D83EBD635}"/>
              </a:ext>
            </a:extLst>
          </p:cNvPr>
          <p:cNvPicPr>
            <a:picLocks noChangeAspect="1"/>
          </p:cNvPicPr>
          <p:nvPr/>
        </p:nvPicPr>
        <p:blipFill>
          <a:blip r:embed="rId3"/>
          <a:srcRect l="51108"/>
          <a:stretch>
            <a:fillRect/>
          </a:stretch>
        </p:blipFill>
        <p:spPr>
          <a:xfrm>
            <a:off x="0" y="3525451"/>
            <a:ext cx="3800062" cy="3332549"/>
          </a:xfrm>
          <a:prstGeom prst="rect">
            <a:avLst/>
          </a:prstGeom>
        </p:spPr>
      </p:pic>
      <p:sp>
        <p:nvSpPr>
          <p:cNvPr id="4" name="TextBox 3">
            <a:extLst>
              <a:ext uri="{FF2B5EF4-FFF2-40B4-BE49-F238E27FC236}">
                <a16:creationId xmlns:a16="http://schemas.microsoft.com/office/drawing/2014/main" id="{BB47AD0B-59C8-AD9E-4BC6-7F7A58385F82}"/>
              </a:ext>
            </a:extLst>
          </p:cNvPr>
          <p:cNvSpPr txBox="1"/>
          <p:nvPr/>
        </p:nvSpPr>
        <p:spPr>
          <a:xfrm>
            <a:off x="7812156" y="155296"/>
            <a:ext cx="4448864" cy="6740307"/>
          </a:xfrm>
          <a:prstGeom prst="rect">
            <a:avLst/>
          </a:prstGeom>
          <a:noFill/>
        </p:spPr>
        <p:txBody>
          <a:bodyPr wrap="square" rtlCol="0">
            <a:spAutoFit/>
          </a:bodyPr>
          <a:lstStyle/>
          <a:p>
            <a:r>
              <a:rPr lang="en-US" b="1"/>
              <a:t>Flow – Riparian Vegetation Interactions</a:t>
            </a:r>
          </a:p>
          <a:p>
            <a:r>
              <a:rPr lang="en-US"/>
              <a:t>Riparian vegetation is a critical component of healthy river ecosystems. Its life cycle, from seed germination and seedling establishment to mature growth, is closely coupled with river flow regimes. At the same time, vegetation alters hydraulic resistance and can substantially influence water levels, particularly during floods.</a:t>
            </a:r>
          </a:p>
          <a:p>
            <a:endParaRPr lang="en-US"/>
          </a:p>
          <a:p>
            <a:r>
              <a:rPr lang="en-US"/>
              <a:t>In collaboration with the U.S. Army Engineer Research and Development Center and the U.S. Bureau of Reclamation, I coupled a riparian vegetation model with the widely used one-dimensional hydraulic model HEC-RAS to:</a:t>
            </a:r>
          </a:p>
          <a:p>
            <a:pPr marL="285750" lvl="0" indent="-285750">
              <a:buFont typeface="Arial" panose="020B0604020202020204" pitchFamily="34" charset="0"/>
              <a:buChar char="•"/>
            </a:pPr>
            <a:r>
              <a:rPr lang="en-US" b="1"/>
              <a:t>Evaluate the performance of 11 methods for estimating vegetation-induced hydraulic roughness; and</a:t>
            </a:r>
            <a:endParaRPr lang="en-US"/>
          </a:p>
          <a:p>
            <a:pPr marL="285750" lvl="0" indent="-285750">
              <a:buFont typeface="Arial" panose="020B0604020202020204" pitchFamily="34" charset="0"/>
              <a:buChar char="•"/>
            </a:pPr>
            <a:r>
              <a:rPr lang="en-US" b="1"/>
              <a:t>Simulate the two-way interactions between river flow regimes and riparian vegetation dynamics along the Sacramento River.</a:t>
            </a:r>
            <a:endParaRPr lang="en-US"/>
          </a:p>
          <a:p>
            <a:endParaRPr lang="en-US"/>
          </a:p>
        </p:txBody>
      </p:sp>
      <p:pic>
        <p:nvPicPr>
          <p:cNvPr id="13" name="Picture 12">
            <a:extLst>
              <a:ext uri="{FF2B5EF4-FFF2-40B4-BE49-F238E27FC236}">
                <a16:creationId xmlns:a16="http://schemas.microsoft.com/office/drawing/2014/main" id="{BE36A308-EA5A-A946-F3C5-35065872C0EA}"/>
              </a:ext>
            </a:extLst>
          </p:cNvPr>
          <p:cNvPicPr>
            <a:picLocks noChangeAspect="1"/>
          </p:cNvPicPr>
          <p:nvPr/>
        </p:nvPicPr>
        <p:blipFill>
          <a:blip r:embed="rId4"/>
          <a:srcRect l="301" t="6865" r="4018"/>
          <a:stretch>
            <a:fillRect/>
          </a:stretch>
        </p:blipFill>
        <p:spPr>
          <a:xfrm>
            <a:off x="3994012" y="192901"/>
            <a:ext cx="3711476" cy="2941217"/>
          </a:xfrm>
          <a:prstGeom prst="rect">
            <a:avLst/>
          </a:prstGeom>
        </p:spPr>
      </p:pic>
      <p:pic>
        <p:nvPicPr>
          <p:cNvPr id="15" name="Picture 14">
            <a:extLst>
              <a:ext uri="{FF2B5EF4-FFF2-40B4-BE49-F238E27FC236}">
                <a16:creationId xmlns:a16="http://schemas.microsoft.com/office/drawing/2014/main" id="{B45516D2-08B6-BA2E-C69E-29A2A6EA324B}"/>
              </a:ext>
            </a:extLst>
          </p:cNvPr>
          <p:cNvPicPr>
            <a:picLocks noChangeAspect="1"/>
          </p:cNvPicPr>
          <p:nvPr/>
        </p:nvPicPr>
        <p:blipFill>
          <a:blip r:embed="rId5"/>
          <a:stretch>
            <a:fillRect/>
          </a:stretch>
        </p:blipFill>
        <p:spPr>
          <a:xfrm>
            <a:off x="148722" y="635015"/>
            <a:ext cx="3595607" cy="2696705"/>
          </a:xfrm>
          <a:prstGeom prst="rect">
            <a:avLst/>
          </a:prstGeom>
        </p:spPr>
      </p:pic>
    </p:spTree>
    <p:extLst>
      <p:ext uri="{BB962C8B-B14F-4D97-AF65-F5344CB8AC3E}">
        <p14:creationId xmlns:p14="http://schemas.microsoft.com/office/powerpoint/2010/main" val="545790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3B8454-6BAE-BCC1-7B05-562E5FAD88E5}"/>
              </a:ext>
            </a:extLst>
          </p:cNvPr>
          <p:cNvSpPr txBox="1"/>
          <p:nvPr/>
        </p:nvSpPr>
        <p:spPr>
          <a:xfrm>
            <a:off x="8362124" y="52871"/>
            <a:ext cx="2491408" cy="461665"/>
          </a:xfrm>
          <a:prstGeom prst="rect">
            <a:avLst/>
          </a:prstGeom>
          <a:noFill/>
        </p:spPr>
        <p:txBody>
          <a:bodyPr wrap="square">
            <a:spAutoFit/>
          </a:bodyPr>
          <a:lstStyle/>
          <a:p>
            <a:pPr lvl="0" algn="l"/>
            <a:r>
              <a:rPr lang="en-US" sz="1200" b="0" i="0">
                <a:solidFill>
                  <a:srgbClr val="123640"/>
                </a:solidFill>
                <a:effectLst/>
                <a:latin typeface="Georgia" panose="02040502050405020303" pitchFamily="18" charset="0"/>
              </a:rPr>
              <a:t>Dammed Rivers as Complex Social–Ecological Systems</a:t>
            </a:r>
          </a:p>
        </p:txBody>
      </p:sp>
      <p:pic>
        <p:nvPicPr>
          <p:cNvPr id="4" name="Picture 3">
            <a:extLst>
              <a:ext uri="{FF2B5EF4-FFF2-40B4-BE49-F238E27FC236}">
                <a16:creationId xmlns:a16="http://schemas.microsoft.com/office/drawing/2014/main" id="{A36DD2B8-A098-32BD-5A38-3F6B7ABDE660}"/>
              </a:ext>
            </a:extLst>
          </p:cNvPr>
          <p:cNvPicPr>
            <a:picLocks noChangeAspect="1"/>
          </p:cNvPicPr>
          <p:nvPr/>
        </p:nvPicPr>
        <p:blipFill>
          <a:blip r:embed="rId3"/>
          <a:stretch>
            <a:fillRect/>
          </a:stretch>
        </p:blipFill>
        <p:spPr>
          <a:xfrm>
            <a:off x="49695" y="560866"/>
            <a:ext cx="6735418" cy="3549747"/>
          </a:xfrm>
          <a:prstGeom prst="rect">
            <a:avLst/>
          </a:prstGeom>
        </p:spPr>
      </p:pic>
      <p:sp>
        <p:nvSpPr>
          <p:cNvPr id="6" name="TextBox 5">
            <a:extLst>
              <a:ext uri="{FF2B5EF4-FFF2-40B4-BE49-F238E27FC236}">
                <a16:creationId xmlns:a16="http://schemas.microsoft.com/office/drawing/2014/main" id="{0E1B6660-239A-B7E5-F55A-6DF100E34816}"/>
              </a:ext>
            </a:extLst>
          </p:cNvPr>
          <p:cNvSpPr txBox="1"/>
          <p:nvPr/>
        </p:nvSpPr>
        <p:spPr>
          <a:xfrm>
            <a:off x="7222157" y="618820"/>
            <a:ext cx="4771342" cy="5909310"/>
          </a:xfrm>
          <a:prstGeom prst="rect">
            <a:avLst/>
          </a:prstGeom>
          <a:noFill/>
        </p:spPr>
        <p:txBody>
          <a:bodyPr wrap="square">
            <a:spAutoFit/>
          </a:bodyPr>
          <a:lstStyle/>
          <a:p>
            <a:pPr>
              <a:buNone/>
            </a:pPr>
            <a:r>
              <a:rPr lang="en-US"/>
              <a:t>Dams fundamentally reorganize river systems by altering flow, temperature, sediment transport, connectivity, and habitat. These changes propagate through coupled hydrologic, geomorphic, and ecological processes, often producing nonlinear responses, feedbacks, and long-lasting legacy effects.</a:t>
            </a:r>
          </a:p>
          <a:p>
            <a:pPr>
              <a:buNone/>
            </a:pPr>
            <a:endParaRPr lang="en-US"/>
          </a:p>
          <a:p>
            <a:pPr>
              <a:buNone/>
            </a:pPr>
            <a:r>
              <a:rPr lang="en-US"/>
              <a:t>Working in the Yangtze River downstream of the Three Gorges Dam—one of the world’s largest and most consequential hydropower projects—our research addressed:</a:t>
            </a:r>
          </a:p>
          <a:p>
            <a:pPr marL="285750" indent="-285750">
              <a:buFont typeface="Arial" panose="020B0604020202020204" pitchFamily="34" charset="0"/>
              <a:buChar char="•"/>
            </a:pPr>
            <a:r>
              <a:rPr lang="en-US"/>
              <a:t>How did dam regulation reshaped river ecosystems, from flow and thermal regime to fish diversity?  </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How can environmental flows and adaptive management restore key ecological processes and functions in regulated rivers?</a:t>
            </a:r>
          </a:p>
        </p:txBody>
      </p:sp>
      <p:sp>
        <p:nvSpPr>
          <p:cNvPr id="7" name="TextBox 6">
            <a:extLst>
              <a:ext uri="{FF2B5EF4-FFF2-40B4-BE49-F238E27FC236}">
                <a16:creationId xmlns:a16="http://schemas.microsoft.com/office/drawing/2014/main" id="{EB69EE2D-D8F1-F846-32E8-E3DECD8DB7C2}"/>
              </a:ext>
            </a:extLst>
          </p:cNvPr>
          <p:cNvSpPr txBox="1"/>
          <p:nvPr/>
        </p:nvSpPr>
        <p:spPr>
          <a:xfrm>
            <a:off x="240474" y="283703"/>
            <a:ext cx="6544639" cy="338554"/>
          </a:xfrm>
          <a:prstGeom prst="rect">
            <a:avLst/>
          </a:prstGeom>
          <a:noFill/>
        </p:spPr>
        <p:txBody>
          <a:bodyPr wrap="square" rtlCol="0">
            <a:spAutoFit/>
          </a:bodyPr>
          <a:lstStyle/>
          <a:p>
            <a:r>
              <a:rPr lang="en-US" sz="1600"/>
              <a:t>Coupling between flow regime and ecological processes in natural rivers</a:t>
            </a:r>
          </a:p>
        </p:txBody>
      </p:sp>
    </p:spTree>
    <p:extLst>
      <p:ext uri="{BB962C8B-B14F-4D97-AF65-F5344CB8AC3E}">
        <p14:creationId xmlns:p14="http://schemas.microsoft.com/office/powerpoint/2010/main" val="4167148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C868EC-E887-F84C-9C36-6CB188C57761}"/>
              </a:ext>
            </a:extLst>
          </p:cNvPr>
          <p:cNvSpPr txBox="1"/>
          <p:nvPr/>
        </p:nvSpPr>
        <p:spPr>
          <a:xfrm>
            <a:off x="504135" y="693494"/>
            <a:ext cx="4650961" cy="369332"/>
          </a:xfrm>
          <a:prstGeom prst="rect">
            <a:avLst/>
          </a:prstGeom>
          <a:noFill/>
        </p:spPr>
        <p:txBody>
          <a:bodyPr wrap="square" rtlCol="0">
            <a:spAutoFit/>
          </a:bodyPr>
          <a:lstStyle/>
          <a:p>
            <a:r>
              <a:rPr lang="en-US" b="1"/>
              <a:t>Algae–carbon–nutrient simulation models</a:t>
            </a:r>
          </a:p>
        </p:txBody>
      </p:sp>
      <p:pic>
        <p:nvPicPr>
          <p:cNvPr id="3" name="Picture 2">
            <a:extLst>
              <a:ext uri="{FF2B5EF4-FFF2-40B4-BE49-F238E27FC236}">
                <a16:creationId xmlns:a16="http://schemas.microsoft.com/office/drawing/2014/main" id="{F1095BA6-6A79-80EF-391C-57E9366CE35A}"/>
              </a:ext>
            </a:extLst>
          </p:cNvPr>
          <p:cNvPicPr>
            <a:picLocks noChangeAspect="1"/>
          </p:cNvPicPr>
          <p:nvPr/>
        </p:nvPicPr>
        <p:blipFill>
          <a:blip r:embed="rId3"/>
          <a:stretch>
            <a:fillRect/>
          </a:stretch>
        </p:blipFill>
        <p:spPr>
          <a:xfrm>
            <a:off x="475974" y="1250950"/>
            <a:ext cx="5435600" cy="4356100"/>
          </a:xfrm>
          <a:prstGeom prst="rect">
            <a:avLst/>
          </a:prstGeom>
        </p:spPr>
      </p:pic>
      <p:sp>
        <p:nvSpPr>
          <p:cNvPr id="4" name="TextBox 3">
            <a:extLst>
              <a:ext uri="{FF2B5EF4-FFF2-40B4-BE49-F238E27FC236}">
                <a16:creationId xmlns:a16="http://schemas.microsoft.com/office/drawing/2014/main" id="{AC7EA0AA-10FC-19B7-41F4-5C76B1DE2BFF}"/>
              </a:ext>
            </a:extLst>
          </p:cNvPr>
          <p:cNvSpPr txBox="1"/>
          <p:nvPr/>
        </p:nvSpPr>
        <p:spPr>
          <a:xfrm>
            <a:off x="6917635" y="878160"/>
            <a:ext cx="5274365" cy="5355312"/>
          </a:xfrm>
          <a:prstGeom prst="rect">
            <a:avLst/>
          </a:prstGeom>
          <a:noFill/>
        </p:spPr>
        <p:txBody>
          <a:bodyPr wrap="square" rtlCol="0">
            <a:spAutoFit/>
          </a:bodyPr>
          <a:lstStyle/>
          <a:p>
            <a:r>
              <a:rPr lang="en-US" b="1"/>
              <a:t>Regime Shifts in Eutrophic River Ecosystems</a:t>
            </a:r>
          </a:p>
          <a:p>
            <a:r>
              <a:rPr lang="en-US"/>
              <a:t>Regime shifts between clear-water and turbid-water states in eutrophic lakes are well studied and are often attributed to species interactions and nutrient loading. In eutrophic rivers, however, the drivers of abrupt shifts in algal communities, dissolved oxygen, and nutrient dynamics remain less clear.</a:t>
            </a:r>
          </a:p>
          <a:p>
            <a:r>
              <a:rPr lang="en-US"/>
              <a:t>By coupling hydrodynamic models with algae–carbon–nutrient models, we found that:</a:t>
            </a:r>
          </a:p>
          <a:p>
            <a:pPr marL="285750" lvl="0" indent="-285750">
              <a:buFont typeface="Arial" panose="020B0604020202020204" pitchFamily="34" charset="0"/>
              <a:buChar char="•"/>
            </a:pPr>
            <a:r>
              <a:rPr lang="en-US" b="1"/>
              <a:t>Flow velocity is a major driver of water-quality regime shifts in river ecosystems.</a:t>
            </a:r>
            <a:endParaRPr lang="en-US"/>
          </a:p>
          <a:p>
            <a:pPr marL="285750" lvl="0" indent="-285750">
              <a:buFont typeface="Arial" panose="020B0604020202020204" pitchFamily="34" charset="0"/>
              <a:buChar char="•"/>
            </a:pPr>
            <a:r>
              <a:rPr lang="en-US" b="1"/>
              <a:t>Along the river–estuary continuum, changes in salinity further reshape algal communities and nutrient cycling.</a:t>
            </a:r>
            <a:endParaRPr lang="en-US"/>
          </a:p>
          <a:p>
            <a:pPr marL="285750" lvl="0" indent="-285750">
              <a:buFont typeface="Arial" panose="020B0604020202020204" pitchFamily="34" charset="0"/>
              <a:buChar char="•"/>
            </a:pPr>
            <a:r>
              <a:rPr lang="en-US" b="1"/>
              <a:t>Algal mortality and community reorganization are often accompanied by declines in dissolved oxygen and concurrent nutrient release.</a:t>
            </a:r>
            <a:endParaRPr lang="en-US"/>
          </a:p>
          <a:p>
            <a:endParaRPr lang="en-US"/>
          </a:p>
        </p:txBody>
      </p:sp>
    </p:spTree>
    <p:extLst>
      <p:ext uri="{BB962C8B-B14F-4D97-AF65-F5344CB8AC3E}">
        <p14:creationId xmlns:p14="http://schemas.microsoft.com/office/powerpoint/2010/main" val="3569545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FC5114-05F9-68ED-CDC9-77BFDEEFD3DD}"/>
              </a:ext>
            </a:extLst>
          </p:cNvPr>
          <p:cNvSpPr txBox="1"/>
          <p:nvPr/>
        </p:nvSpPr>
        <p:spPr>
          <a:xfrm>
            <a:off x="3977089" y="231354"/>
            <a:ext cx="3062689" cy="369332"/>
          </a:xfrm>
          <a:prstGeom prst="rect">
            <a:avLst/>
          </a:prstGeom>
          <a:noFill/>
        </p:spPr>
        <p:txBody>
          <a:bodyPr wrap="square" rtlCol="0">
            <a:spAutoFit/>
          </a:bodyPr>
          <a:lstStyle/>
          <a:p>
            <a:r>
              <a:rPr lang="en-US"/>
              <a:t>Publication page</a:t>
            </a:r>
          </a:p>
        </p:txBody>
      </p:sp>
      <p:sp>
        <p:nvSpPr>
          <p:cNvPr id="3" name="TextBox 2">
            <a:extLst>
              <a:ext uri="{FF2B5EF4-FFF2-40B4-BE49-F238E27FC236}">
                <a16:creationId xmlns:a16="http://schemas.microsoft.com/office/drawing/2014/main" id="{2DCE23A9-08AC-843D-6590-87B5EBEAEEA6}"/>
              </a:ext>
            </a:extLst>
          </p:cNvPr>
          <p:cNvSpPr txBox="1"/>
          <p:nvPr/>
        </p:nvSpPr>
        <p:spPr>
          <a:xfrm>
            <a:off x="826265" y="881349"/>
            <a:ext cx="5888860" cy="3693319"/>
          </a:xfrm>
          <a:prstGeom prst="rect">
            <a:avLst/>
          </a:prstGeom>
          <a:noFill/>
        </p:spPr>
        <p:txBody>
          <a:bodyPr wrap="square" rtlCol="0">
            <a:spAutoFit/>
          </a:bodyPr>
          <a:lstStyle/>
          <a:p>
            <a:r>
              <a:rPr lang="en-US"/>
              <a:t>This is the easiest, but I need to update my pdf (what is the title of new submitted articles).</a:t>
            </a:r>
          </a:p>
          <a:p>
            <a:endParaRPr lang="en-US"/>
          </a:p>
          <a:p>
            <a:r>
              <a:rPr lang="en-US"/>
              <a:t>The things I really need to do:</a:t>
            </a:r>
          </a:p>
          <a:p>
            <a:endParaRPr lang="en-US"/>
          </a:p>
          <a:p>
            <a:r>
              <a:rPr lang="en-US"/>
              <a:t>The first page should have an appealing picture. </a:t>
            </a:r>
          </a:p>
          <a:p>
            <a:endParaRPr lang="en-US"/>
          </a:p>
          <a:p>
            <a:r>
              <a:rPr lang="en-US"/>
              <a:t>My ResearchGate Page</a:t>
            </a:r>
          </a:p>
          <a:p>
            <a:endParaRPr lang="en-US"/>
          </a:p>
          <a:p>
            <a:r>
              <a:rPr lang="en-US"/>
              <a:t>Pubulication page should have PDF available. </a:t>
            </a:r>
          </a:p>
          <a:p>
            <a:endParaRPr lang="en-US"/>
          </a:p>
          <a:p>
            <a:endParaRPr lang="en-US"/>
          </a:p>
          <a:p>
            <a:r>
              <a:rPr lang="en-US"/>
              <a:t> </a:t>
            </a:r>
          </a:p>
        </p:txBody>
      </p:sp>
    </p:spTree>
    <p:extLst>
      <p:ext uri="{BB962C8B-B14F-4D97-AF65-F5344CB8AC3E}">
        <p14:creationId xmlns:p14="http://schemas.microsoft.com/office/powerpoint/2010/main" val="40825832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3253</TotalTime>
  <Words>1794</Words>
  <Application>Microsoft Macintosh PowerPoint</Application>
  <PresentationFormat>Widescreen</PresentationFormat>
  <Paragraphs>153</Paragraphs>
  <Slides>13</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Georgia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waing wang</dc:creator>
  <cp:lastModifiedBy>waing wang</cp:lastModifiedBy>
  <cp:revision>133</cp:revision>
  <dcterms:created xsi:type="dcterms:W3CDTF">2024-11-04T04:34:54Z</dcterms:created>
  <dcterms:modified xsi:type="dcterms:W3CDTF">2026-10-01T15:39:35Z</dcterms:modified>
</cp:coreProperties>
</file>